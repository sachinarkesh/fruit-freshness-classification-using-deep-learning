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CNN</c:v>
                </c:pt>
              </c:strCache>
            </c:strRef>
          </c:tx>
          <c:spPr>
            <a:solidFill>
              <a:srgbClr val="7A9B8A"/>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Sheet1!$B$2:$B$5</c:f>
              <c:numCache>
                <c:formatCode>General</c:formatCode>
                <c:ptCount val="4"/>
                <c:pt idx="0">
                  <c:v>95.44</c:v>
                </c:pt>
                <c:pt idx="1">
                  <c:v>95.52</c:v>
                </c:pt>
                <c:pt idx="2">
                  <c:v>95.44</c:v>
                </c:pt>
                <c:pt idx="3">
                  <c:v>95.42</c:v>
                </c:pt>
              </c:numCache>
            </c:numRef>
          </c:val>
        </c:ser>
        <c:ser>
          <c:idx val="1"/>
          <c:order val="1"/>
          <c:tx>
            <c:strRef>
              <c:f>Sheet1!$C$1</c:f>
              <c:strCache>
                <c:ptCount val="1"/>
                <c:pt idx="0">
                  <c:v>MobileNetV2</c:v>
                </c:pt>
              </c:strCache>
            </c:strRef>
          </c:tx>
          <c:spPr>
            <a:solidFill>
              <a:srgbClr val="065A82"/>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Sheet1!$C$2:$C$5</c:f>
              <c:numCache>
                <c:formatCode>General</c:formatCode>
                <c:ptCount val="4"/>
                <c:pt idx="0">
                  <c:v>98.52</c:v>
                </c:pt>
                <c:pt idx="1">
                  <c:v>98.53</c:v>
                </c:pt>
                <c:pt idx="2">
                  <c:v>98.52</c:v>
                </c:pt>
                <c:pt idx="3">
                  <c:v>98.51</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9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8FB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will present my project titled Fresh and Rotten Fruit Classification Using Deep Learning. The objective of this project is to automatically identify whether a fruit is fresh or rotten using image classification techniques. Two deep learning models were implemented and compared: a Custom CNN and MobileNetV2.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Freshness detection is an important task in agriculture, supermarkets, warehouses, and food processing industries. Manual inspection requires significant time and labor, and human errors can occur. Therefore, this project uses deep learning to automate fruit freshness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downloaded from Kaggle. It consists of six classes representing fresh and rotten apples, bananas, and oranges. All images were resized to 128 by 128 pixels. The models were trained using a batch size of 16 for 10 epochs.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was to compare a custom CNN with MobileNetV2 and determine which model provides better classification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dataset was preprocessed. Images were resized and normalized. Data augmentation techniques such as rotation, zoom, and flipping were applied to improve generalization. Two models were trained independently. Finally, both models were evaluated using several performance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were trained for 10 epochs. During training, training accuracy increased while loss decreased steadily. The validation accuracy also improved, indicating that the models learned meaningful image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confusion matrix represents the performance of the CNN. Most predictions appear along the diagonal, indicating correct classification. A few errors occur between visually similar fresh and rotten fruits.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confusion matrix for MobileNetV2. Compared to CNN, MobileNet produced fewer misclassifications, demonstrating better overall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performance of both models. According to the experimental results, MobileNetV2 achieved better overall performance than the custom CNN. The higher precision, recall, and F1-score indicate that MobileNet generalized better on unseen test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sample predictions from the testing dataset. For each image, the actual label is compared with predictions from both models. Both models correctly classified most of the images. The confidence scores demonstrate that the models are highly confident in their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images were incorrectly classified. Most errors occurred because the fresh and rotten fruits share similar colors, textures, and lighting conditions. Such visual similarities make classification more challenging.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 curves show per-class discrimination. All classes achieved AUC close to 1.0, indicating strong classification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the results are encouraging, several limitations remain. The dataset includes only apples, bananas, and oranges. Images were collected under relatively controlled conditions. Future work should include more fruit categories and more diverse environmental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demonstrates that deep learning can accurately classify fresh and rotten fruits. Both CNN and MobileNetV2 performed well. However, MobileNetV2 achieved superior overall performance due to transfer learning and its optimized architecture. This approach can support automated quality inspection in agriculture and food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includes expanding the dataset, incorporating more fruit categories, deploying the model on mobile devices, and enabling real-time fruit detection using a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would be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6858000" y="-1097280"/>
            <a:ext cx="3657600" cy="3657600"/>
          </a:xfrm>
          <a:prstGeom prst="ellipse">
            <a:avLst/>
          </a:prstGeom>
          <a:solidFill>
            <a:srgbClr val="2E6B4F">
              <a:alpha val="40000"/>
            </a:srgbClr>
          </a:solidFill>
          <a:ln w="12700">
            <a:solidFill>
              <a:srgbClr val="2E6B4F">
                <a:alpha val="40000"/>
              </a:srgbClr>
            </a:solidFill>
            <a:prstDash val="solid"/>
          </a:ln>
        </p:spPr>
      </p:sp>
      <p:sp>
        <p:nvSpPr>
          <p:cNvPr id="3" name="Shape 1"/>
          <p:cNvSpPr/>
          <p:nvPr/>
        </p:nvSpPr>
        <p:spPr>
          <a:xfrm>
            <a:off x="7498080" y="-365760"/>
            <a:ext cx="2286000" cy="2286000"/>
          </a:xfrm>
          <a:prstGeom prst="ellipse">
            <a:avLst/>
          </a:prstGeom>
          <a:solidFill>
            <a:srgbClr val="4CAF7D">
              <a:alpha val="30000"/>
            </a:srgbClr>
          </a:solidFill>
          <a:ln w="12700">
            <a:solidFill>
              <a:srgbClr val="4CAF7D">
                <a:alpha val="30000"/>
              </a:srgbClr>
            </a:solidFill>
            <a:prstDash val="solid"/>
          </a:ln>
        </p:spPr>
      </p:sp>
      <p:sp>
        <p:nvSpPr>
          <p:cNvPr id="4" name="Shape 2"/>
          <p:cNvSpPr/>
          <p:nvPr/>
        </p:nvSpPr>
        <p:spPr>
          <a:xfrm>
            <a:off x="-274320" y="3200400"/>
            <a:ext cx="1828800" cy="1828800"/>
          </a:xfrm>
          <a:prstGeom prst="ellipse">
            <a:avLst/>
          </a:prstGeom>
          <a:solidFill>
            <a:srgbClr val="4CAF7D">
              <a:alpha val="50000"/>
            </a:srgbClr>
          </a:solidFill>
          <a:ln w="12700">
            <a:solidFill>
              <a:srgbClr val="4CAF7D">
                <a:alpha val="50000"/>
              </a:srgbClr>
            </a:solidFill>
            <a:prstDash val="solid"/>
          </a:ln>
        </p:spPr>
      </p:sp>
      <p:sp>
        <p:nvSpPr>
          <p:cNvPr id="5" name="Text 3"/>
          <p:cNvSpPr/>
          <p:nvPr/>
        </p:nvSpPr>
        <p:spPr>
          <a:xfrm>
            <a:off x="457200" y="822960"/>
            <a:ext cx="8229600" cy="100584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Fresh &amp; Rotten Fruit</a:t>
            </a:r>
            <a:endParaRPr lang="en-US" sz="4400" dirty="0"/>
          </a:p>
        </p:txBody>
      </p:sp>
      <p:sp>
        <p:nvSpPr>
          <p:cNvPr id="6" name="Text 4"/>
          <p:cNvSpPr/>
          <p:nvPr/>
        </p:nvSpPr>
        <p:spPr>
          <a:xfrm>
            <a:off x="457200" y="1737360"/>
            <a:ext cx="8229600" cy="640080"/>
          </a:xfrm>
          <a:prstGeom prst="rect">
            <a:avLst/>
          </a:prstGeom>
          <a:noFill/>
          <a:ln/>
        </p:spPr>
        <p:txBody>
          <a:bodyPr wrap="square" rtlCol="0" anchor="ctr"/>
          <a:lstStyle/>
          <a:p>
            <a:pPr algn="ctr" indent="0" marL="0">
              <a:buNone/>
            </a:pPr>
            <a:r>
              <a:rPr lang="en-US" sz="2600" dirty="0">
                <a:solidFill>
                  <a:srgbClr val="F5A623"/>
                </a:solidFill>
                <a:latin typeface="Calibri" pitchFamily="34" charset="0"/>
                <a:ea typeface="Calibri" pitchFamily="34" charset="-122"/>
                <a:cs typeface="Calibri" pitchFamily="34" charset="-120"/>
              </a:rPr>
              <a:t>Classification Using Deep Learning</a:t>
            </a:r>
            <a:endParaRPr lang="en-US" sz="2600" dirty="0"/>
          </a:p>
        </p:txBody>
      </p:sp>
      <p:sp>
        <p:nvSpPr>
          <p:cNvPr id="7" name="Shape 5"/>
          <p:cNvSpPr/>
          <p:nvPr/>
        </p:nvSpPr>
        <p:spPr>
          <a:xfrm>
            <a:off x="2286000" y="2514600"/>
            <a:ext cx="4572000" cy="36576"/>
          </a:xfrm>
          <a:prstGeom prst="rect">
            <a:avLst/>
          </a:prstGeom>
          <a:solidFill>
            <a:srgbClr val="4CAF7D"/>
          </a:solidFill>
          <a:ln w="12700">
            <a:solidFill>
              <a:srgbClr val="4CAF7D"/>
            </a:solidFill>
            <a:prstDash val="solid"/>
          </a:ln>
        </p:spPr>
      </p:sp>
      <p:sp>
        <p:nvSpPr>
          <p:cNvPr id="8" name="Text 6"/>
          <p:cNvSpPr/>
          <p:nvPr/>
        </p:nvSpPr>
        <p:spPr>
          <a:xfrm>
            <a:off x="457200" y="2743200"/>
            <a:ext cx="8229600" cy="457200"/>
          </a:xfrm>
          <a:prstGeom prst="rect">
            <a:avLst/>
          </a:prstGeom>
          <a:noFill/>
          <a:ln/>
        </p:spPr>
        <p:txBody>
          <a:bodyPr wrap="square" rtlCol="0" anchor="ctr"/>
          <a:lstStyle/>
          <a:p>
            <a:pPr algn="ctr" indent="0" marL="0">
              <a:buNone/>
            </a:pPr>
            <a:r>
              <a:rPr lang="en-US" sz="1600" i="1" dirty="0">
                <a:solidFill>
                  <a:srgbClr val="7A9B8A"/>
                </a:solidFill>
                <a:latin typeface="Calibri" pitchFamily="34" charset="0"/>
                <a:ea typeface="Calibri" pitchFamily="34" charset="-122"/>
                <a:cs typeface="Calibri" pitchFamily="34" charset="-120"/>
              </a:rPr>
              <a:t>Comparative Analysis of Custom CNN vs MobileNetV2</a:t>
            </a:r>
            <a:endParaRPr lang="en-US" sz="1600" dirty="0"/>
          </a:p>
        </p:txBody>
      </p:sp>
      <p:sp>
        <p:nvSpPr>
          <p:cNvPr id="9" name="Shape 7"/>
          <p:cNvSpPr/>
          <p:nvPr/>
        </p:nvSpPr>
        <p:spPr>
          <a:xfrm>
            <a:off x="548640" y="3520440"/>
            <a:ext cx="1828800" cy="1097280"/>
          </a:xfrm>
          <a:prstGeom prst="roundRect">
            <a:avLst>
              <a:gd name="adj" fmla="val 8333"/>
            </a:avLst>
          </a:prstGeom>
          <a:solidFill>
            <a:srgbClr val="2E6B4F">
              <a:alpha val="80000"/>
            </a:srgbClr>
          </a:solidFill>
          <a:ln w="12700">
            <a:solidFill>
              <a:srgbClr val="4CAF7D"/>
            </a:solidFill>
            <a:prstDash val="solid"/>
          </a:ln>
        </p:spPr>
      </p:sp>
      <p:sp>
        <p:nvSpPr>
          <p:cNvPr id="10" name="Text 8"/>
          <p:cNvSpPr/>
          <p:nvPr/>
        </p:nvSpPr>
        <p:spPr>
          <a:xfrm>
            <a:off x="548640" y="3566160"/>
            <a:ext cx="1828800" cy="502920"/>
          </a:xfrm>
          <a:prstGeom prst="rect">
            <a:avLst/>
          </a:prstGeom>
          <a:noFill/>
          <a:ln/>
        </p:spPr>
        <p:txBody>
          <a:bodyPr wrap="square" rtlCol="0" anchor="ctr"/>
          <a:lstStyle/>
          <a:p>
            <a:pPr algn="ctr" indent="0" marL="0">
              <a:buNone/>
            </a:pPr>
            <a:r>
              <a:rPr lang="en-US" sz="2600" b="1" dirty="0">
                <a:solidFill>
                  <a:srgbClr val="F5A623"/>
                </a:solidFill>
                <a:latin typeface="Cambria" pitchFamily="34" charset="0"/>
                <a:ea typeface="Cambria" pitchFamily="34" charset="-122"/>
                <a:cs typeface="Cambria" pitchFamily="34" charset="-120"/>
              </a:rPr>
              <a:t>Kaggle</a:t>
            </a:r>
            <a:endParaRPr lang="en-US" sz="2600" dirty="0"/>
          </a:p>
        </p:txBody>
      </p:sp>
      <p:sp>
        <p:nvSpPr>
          <p:cNvPr id="11" name="Text 9"/>
          <p:cNvSpPr/>
          <p:nvPr/>
        </p:nvSpPr>
        <p:spPr>
          <a:xfrm>
            <a:off x="548640" y="4069080"/>
            <a:ext cx="1828800" cy="32004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Dataset</a:t>
            </a:r>
            <a:endParaRPr lang="en-US" sz="1200" dirty="0"/>
          </a:p>
        </p:txBody>
      </p:sp>
      <p:sp>
        <p:nvSpPr>
          <p:cNvPr id="12" name="Shape 10"/>
          <p:cNvSpPr/>
          <p:nvPr/>
        </p:nvSpPr>
        <p:spPr>
          <a:xfrm>
            <a:off x="2651760" y="3520440"/>
            <a:ext cx="1828800" cy="1097280"/>
          </a:xfrm>
          <a:prstGeom prst="roundRect">
            <a:avLst>
              <a:gd name="adj" fmla="val 8333"/>
            </a:avLst>
          </a:prstGeom>
          <a:solidFill>
            <a:srgbClr val="2E6B4F">
              <a:alpha val="80000"/>
            </a:srgbClr>
          </a:solidFill>
          <a:ln w="12700">
            <a:solidFill>
              <a:srgbClr val="4CAF7D"/>
            </a:solidFill>
            <a:prstDash val="solid"/>
          </a:ln>
        </p:spPr>
      </p:sp>
      <p:sp>
        <p:nvSpPr>
          <p:cNvPr id="13" name="Text 11"/>
          <p:cNvSpPr/>
          <p:nvPr/>
        </p:nvSpPr>
        <p:spPr>
          <a:xfrm>
            <a:off x="2651760" y="3566160"/>
            <a:ext cx="1828800" cy="502920"/>
          </a:xfrm>
          <a:prstGeom prst="rect">
            <a:avLst/>
          </a:prstGeom>
          <a:noFill/>
          <a:ln/>
        </p:spPr>
        <p:txBody>
          <a:bodyPr wrap="square" rtlCol="0" anchor="ctr"/>
          <a:lstStyle/>
          <a:p>
            <a:pPr algn="ctr" indent="0" marL="0">
              <a:buNone/>
            </a:pPr>
            <a:r>
              <a:rPr lang="en-US" sz="2600" b="1" dirty="0">
                <a:solidFill>
                  <a:srgbClr val="F5A623"/>
                </a:solidFill>
                <a:latin typeface="Cambria" pitchFamily="34" charset="0"/>
                <a:ea typeface="Cambria" pitchFamily="34" charset="-122"/>
                <a:cs typeface="Cambria" pitchFamily="34" charset="-120"/>
              </a:rPr>
              <a:t>6</a:t>
            </a:r>
            <a:endParaRPr lang="en-US" sz="2600" dirty="0"/>
          </a:p>
        </p:txBody>
      </p:sp>
      <p:sp>
        <p:nvSpPr>
          <p:cNvPr id="14" name="Text 12"/>
          <p:cNvSpPr/>
          <p:nvPr/>
        </p:nvSpPr>
        <p:spPr>
          <a:xfrm>
            <a:off x="2651760" y="4069080"/>
            <a:ext cx="1828800" cy="32004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Classes</a:t>
            </a:r>
            <a:endParaRPr lang="en-US" sz="1200" dirty="0"/>
          </a:p>
        </p:txBody>
      </p:sp>
      <p:sp>
        <p:nvSpPr>
          <p:cNvPr id="15" name="Shape 13"/>
          <p:cNvSpPr/>
          <p:nvPr/>
        </p:nvSpPr>
        <p:spPr>
          <a:xfrm>
            <a:off x="4754880" y="3520440"/>
            <a:ext cx="1828800" cy="1097280"/>
          </a:xfrm>
          <a:prstGeom prst="roundRect">
            <a:avLst>
              <a:gd name="adj" fmla="val 8333"/>
            </a:avLst>
          </a:prstGeom>
          <a:solidFill>
            <a:srgbClr val="2E6B4F">
              <a:alpha val="80000"/>
            </a:srgbClr>
          </a:solidFill>
          <a:ln w="12700">
            <a:solidFill>
              <a:srgbClr val="4CAF7D"/>
            </a:solidFill>
            <a:prstDash val="solid"/>
          </a:ln>
        </p:spPr>
      </p:sp>
      <p:sp>
        <p:nvSpPr>
          <p:cNvPr id="16" name="Text 14"/>
          <p:cNvSpPr/>
          <p:nvPr/>
        </p:nvSpPr>
        <p:spPr>
          <a:xfrm>
            <a:off x="4754880" y="3566160"/>
            <a:ext cx="1828800" cy="502920"/>
          </a:xfrm>
          <a:prstGeom prst="rect">
            <a:avLst/>
          </a:prstGeom>
          <a:noFill/>
          <a:ln/>
        </p:spPr>
        <p:txBody>
          <a:bodyPr wrap="square" rtlCol="0" anchor="ctr"/>
          <a:lstStyle/>
          <a:p>
            <a:pPr algn="ctr" indent="0" marL="0">
              <a:buNone/>
            </a:pPr>
            <a:r>
              <a:rPr lang="en-US" sz="2600" b="1" dirty="0">
                <a:solidFill>
                  <a:srgbClr val="F5A623"/>
                </a:solidFill>
                <a:latin typeface="Cambria" pitchFamily="34" charset="0"/>
                <a:ea typeface="Cambria" pitchFamily="34" charset="-122"/>
                <a:cs typeface="Cambria" pitchFamily="34" charset="-120"/>
              </a:rPr>
              <a:t>13,599</a:t>
            </a:r>
            <a:endParaRPr lang="en-US" sz="2600" dirty="0"/>
          </a:p>
        </p:txBody>
      </p:sp>
      <p:sp>
        <p:nvSpPr>
          <p:cNvPr id="17" name="Text 15"/>
          <p:cNvSpPr/>
          <p:nvPr/>
        </p:nvSpPr>
        <p:spPr>
          <a:xfrm>
            <a:off x="4754880" y="4069080"/>
            <a:ext cx="1828800" cy="32004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Images</a:t>
            </a:r>
            <a:endParaRPr lang="en-US" sz="1200" dirty="0"/>
          </a:p>
        </p:txBody>
      </p:sp>
      <p:sp>
        <p:nvSpPr>
          <p:cNvPr id="18" name="Shape 16"/>
          <p:cNvSpPr/>
          <p:nvPr/>
        </p:nvSpPr>
        <p:spPr>
          <a:xfrm>
            <a:off x="6858000" y="3520440"/>
            <a:ext cx="1828800" cy="1097280"/>
          </a:xfrm>
          <a:prstGeom prst="roundRect">
            <a:avLst>
              <a:gd name="adj" fmla="val 8333"/>
            </a:avLst>
          </a:prstGeom>
          <a:solidFill>
            <a:srgbClr val="2E6B4F">
              <a:alpha val="80000"/>
            </a:srgbClr>
          </a:solidFill>
          <a:ln w="12700">
            <a:solidFill>
              <a:srgbClr val="4CAF7D"/>
            </a:solidFill>
            <a:prstDash val="solid"/>
          </a:ln>
        </p:spPr>
      </p:sp>
      <p:sp>
        <p:nvSpPr>
          <p:cNvPr id="19" name="Text 17"/>
          <p:cNvSpPr/>
          <p:nvPr/>
        </p:nvSpPr>
        <p:spPr>
          <a:xfrm>
            <a:off x="6858000" y="3566160"/>
            <a:ext cx="1828800" cy="502920"/>
          </a:xfrm>
          <a:prstGeom prst="rect">
            <a:avLst/>
          </a:prstGeom>
          <a:noFill/>
          <a:ln/>
        </p:spPr>
        <p:txBody>
          <a:bodyPr wrap="square" rtlCol="0" anchor="ctr"/>
          <a:lstStyle/>
          <a:p>
            <a:pPr algn="ctr" indent="0" marL="0">
              <a:buNone/>
            </a:pPr>
            <a:r>
              <a:rPr lang="en-US" sz="2600" b="1" dirty="0">
                <a:solidFill>
                  <a:srgbClr val="F5A623"/>
                </a:solidFill>
                <a:latin typeface="Cambria" pitchFamily="34" charset="0"/>
                <a:ea typeface="Cambria" pitchFamily="34" charset="-122"/>
                <a:cs typeface="Cambria" pitchFamily="34" charset="-120"/>
              </a:rPr>
              <a:t>10</a:t>
            </a:r>
            <a:endParaRPr lang="en-US" sz="2600" dirty="0"/>
          </a:p>
        </p:txBody>
      </p:sp>
      <p:sp>
        <p:nvSpPr>
          <p:cNvPr id="20" name="Text 18"/>
          <p:cNvSpPr/>
          <p:nvPr/>
        </p:nvSpPr>
        <p:spPr>
          <a:xfrm>
            <a:off x="6858000" y="4069080"/>
            <a:ext cx="1828800" cy="32004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Epochs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Problem Statement</a:t>
            </a:r>
            <a:endParaRPr lang="en-US" sz="2000" dirty="0"/>
          </a:p>
        </p:txBody>
      </p:sp>
      <p:sp>
        <p:nvSpPr>
          <p:cNvPr id="4" name="Shape 2"/>
          <p:cNvSpPr/>
          <p:nvPr/>
        </p:nvSpPr>
        <p:spPr>
          <a:xfrm>
            <a:off x="320040" y="822960"/>
            <a:ext cx="4114800" cy="1828800"/>
          </a:xfrm>
          <a:prstGeom prst="roundRect">
            <a:avLst>
              <a:gd name="adj" fmla="val 6000"/>
            </a:avLst>
          </a:prstGeom>
          <a:solidFill>
            <a:srgbClr val="FFFFFF"/>
          </a:solidFill>
          <a:ln w="12700">
            <a:solidFill>
              <a:srgbClr val="E8F0EC"/>
            </a:solidFill>
            <a:prstDash val="solid"/>
          </a:ln>
          <a:effectLst>
            <a:outerShdw sx="100000" sy="100000" kx="0" ky="0" algn="bl" rotWithShape="0" blurRad="101600" dist="25400" dir="2700000">
              <a:srgbClr val="000000">
                <a:alpha val="8000"/>
              </a:srgbClr>
            </a:outerShdw>
          </a:effectLst>
        </p:spPr>
      </p:sp>
      <p:sp>
        <p:nvSpPr>
          <p:cNvPr id="5" name="Text 3"/>
          <p:cNvSpPr/>
          <p:nvPr/>
        </p:nvSpPr>
        <p:spPr>
          <a:xfrm>
            <a:off x="484632" y="987552"/>
            <a:ext cx="3749040" cy="411480"/>
          </a:xfrm>
          <a:prstGeom prst="rect">
            <a:avLst/>
          </a:prstGeom>
          <a:noFill/>
          <a:ln/>
        </p:spPr>
        <p:txBody>
          <a:bodyPr wrap="square" rtlCol="0" anchor="ctr"/>
          <a:lstStyle/>
          <a:p>
            <a:pPr indent="0" marL="0">
              <a:buNone/>
            </a:pPr>
            <a:r>
              <a:rPr lang="en-US" sz="1500" b="1" dirty="0">
                <a:solidFill>
                  <a:srgbClr val="1B3A2D"/>
                </a:solidFill>
                <a:latin typeface="Calibri" pitchFamily="34" charset="0"/>
                <a:ea typeface="Calibri" pitchFamily="34" charset="-122"/>
                <a:cs typeface="Calibri" pitchFamily="34" charset="-120"/>
              </a:rPr>
              <a:t>Time-Consuming</a:t>
            </a:r>
            <a:endParaRPr lang="en-US" sz="1500" dirty="0"/>
          </a:p>
        </p:txBody>
      </p:sp>
      <p:sp>
        <p:nvSpPr>
          <p:cNvPr id="6" name="Text 4"/>
          <p:cNvSpPr/>
          <p:nvPr/>
        </p:nvSpPr>
        <p:spPr>
          <a:xfrm>
            <a:off x="484632" y="1417320"/>
            <a:ext cx="3749040" cy="1005840"/>
          </a:xfrm>
          <a:prstGeom prst="rect">
            <a:avLst/>
          </a:prstGeom>
          <a:noFill/>
          <a:ln/>
        </p:spPr>
        <p:txBody>
          <a:bodyPr wrap="square" rtlCol="0" anchor="t"/>
          <a:lstStyle/>
          <a:p>
            <a:pPr indent="0" marL="0">
              <a:buNone/>
            </a:pPr>
            <a:r>
              <a:rPr lang="en-US" sz="1300" dirty="0">
                <a:solidFill>
                  <a:srgbClr val="3A5A47"/>
                </a:solidFill>
                <a:latin typeface="Calibri" pitchFamily="34" charset="0"/>
                <a:ea typeface="Calibri" pitchFamily="34" charset="-122"/>
                <a:cs typeface="Calibri" pitchFamily="34" charset="-120"/>
              </a:rPr>
              <a:t>Manual fruit inspection is slow and labor-intensive at scale.</a:t>
            </a:r>
            <a:endParaRPr lang="en-US" sz="1300" dirty="0"/>
          </a:p>
        </p:txBody>
      </p:sp>
      <p:sp>
        <p:nvSpPr>
          <p:cNvPr id="7" name="Shape 5"/>
          <p:cNvSpPr/>
          <p:nvPr/>
        </p:nvSpPr>
        <p:spPr>
          <a:xfrm>
            <a:off x="3611880" y="960120"/>
            <a:ext cx="640080" cy="365760"/>
          </a:xfrm>
          <a:prstGeom prst="roundRect">
            <a:avLst>
              <a:gd name="adj" fmla="val 20000"/>
            </a:avLst>
          </a:prstGeom>
          <a:solidFill>
            <a:srgbClr val="F5A623">
              <a:alpha val="85000"/>
            </a:srgbClr>
          </a:solidFill>
          <a:ln w="12700">
            <a:solidFill>
              <a:srgbClr val="F5A623"/>
            </a:solidFill>
            <a:prstDash val="solid"/>
          </a:ln>
        </p:spPr>
      </p:sp>
      <p:sp>
        <p:nvSpPr>
          <p:cNvPr id="8" name="Text 6"/>
          <p:cNvSpPr/>
          <p:nvPr/>
        </p:nvSpPr>
        <p:spPr>
          <a:xfrm>
            <a:off x="3611880" y="960120"/>
            <a:ext cx="640080" cy="36576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9" name="Shape 7"/>
          <p:cNvSpPr/>
          <p:nvPr/>
        </p:nvSpPr>
        <p:spPr>
          <a:xfrm>
            <a:off x="4754880" y="822960"/>
            <a:ext cx="4114800" cy="1828800"/>
          </a:xfrm>
          <a:prstGeom prst="roundRect">
            <a:avLst>
              <a:gd name="adj" fmla="val 6000"/>
            </a:avLst>
          </a:prstGeom>
          <a:solidFill>
            <a:srgbClr val="FFFFFF"/>
          </a:solidFill>
          <a:ln w="12700">
            <a:solidFill>
              <a:srgbClr val="E8F0EC"/>
            </a:solidFill>
            <a:prstDash val="solid"/>
          </a:ln>
          <a:effectLst>
            <a:outerShdw sx="100000" sy="100000" kx="0" ky="0" algn="bl" rotWithShape="0" blurRad="101600" dist="25400" dir="2700000">
              <a:srgbClr val="000000">
                <a:alpha val="8000"/>
              </a:srgbClr>
            </a:outerShdw>
          </a:effectLst>
        </p:spPr>
      </p:sp>
      <p:sp>
        <p:nvSpPr>
          <p:cNvPr id="10" name="Text 8"/>
          <p:cNvSpPr/>
          <p:nvPr/>
        </p:nvSpPr>
        <p:spPr>
          <a:xfrm>
            <a:off x="4919472" y="987552"/>
            <a:ext cx="3749040" cy="411480"/>
          </a:xfrm>
          <a:prstGeom prst="rect">
            <a:avLst/>
          </a:prstGeom>
          <a:noFill/>
          <a:ln/>
        </p:spPr>
        <p:txBody>
          <a:bodyPr wrap="square" rtlCol="0" anchor="ctr"/>
          <a:lstStyle/>
          <a:p>
            <a:pPr indent="0" marL="0">
              <a:buNone/>
            </a:pPr>
            <a:r>
              <a:rPr lang="en-US" sz="1500" b="1" dirty="0">
                <a:solidFill>
                  <a:srgbClr val="1B3A2D"/>
                </a:solidFill>
                <a:latin typeface="Calibri" pitchFamily="34" charset="0"/>
                <a:ea typeface="Calibri" pitchFamily="34" charset="-122"/>
                <a:cs typeface="Calibri" pitchFamily="34" charset="-120"/>
              </a:rPr>
              <a:t>Inconsistent Results</a:t>
            </a:r>
            <a:endParaRPr lang="en-US" sz="1500" dirty="0"/>
          </a:p>
        </p:txBody>
      </p:sp>
      <p:sp>
        <p:nvSpPr>
          <p:cNvPr id="11" name="Text 9"/>
          <p:cNvSpPr/>
          <p:nvPr/>
        </p:nvSpPr>
        <p:spPr>
          <a:xfrm>
            <a:off x="4919472" y="1417320"/>
            <a:ext cx="3749040" cy="1005840"/>
          </a:xfrm>
          <a:prstGeom prst="rect">
            <a:avLst/>
          </a:prstGeom>
          <a:noFill/>
          <a:ln/>
        </p:spPr>
        <p:txBody>
          <a:bodyPr wrap="square" rtlCol="0" anchor="t"/>
          <a:lstStyle/>
          <a:p>
            <a:pPr indent="0" marL="0">
              <a:buNone/>
            </a:pPr>
            <a:r>
              <a:rPr lang="en-US" sz="1300" dirty="0">
                <a:solidFill>
                  <a:srgbClr val="3A5A47"/>
                </a:solidFill>
                <a:latin typeface="Calibri" pitchFamily="34" charset="0"/>
                <a:ea typeface="Calibri" pitchFamily="34" charset="-122"/>
                <a:cs typeface="Calibri" pitchFamily="34" charset="-120"/>
              </a:rPr>
              <a:t>Human inspection introduces errors and subjective variation.</a:t>
            </a:r>
            <a:endParaRPr lang="en-US" sz="1300" dirty="0"/>
          </a:p>
        </p:txBody>
      </p:sp>
      <p:sp>
        <p:nvSpPr>
          <p:cNvPr id="12" name="Shape 10"/>
          <p:cNvSpPr/>
          <p:nvPr/>
        </p:nvSpPr>
        <p:spPr>
          <a:xfrm>
            <a:off x="8046720" y="960120"/>
            <a:ext cx="640080" cy="365760"/>
          </a:xfrm>
          <a:prstGeom prst="roundRect">
            <a:avLst>
              <a:gd name="adj" fmla="val 20000"/>
            </a:avLst>
          </a:prstGeom>
          <a:solidFill>
            <a:srgbClr val="F5A623">
              <a:alpha val="85000"/>
            </a:srgbClr>
          </a:solidFill>
          <a:ln w="12700">
            <a:solidFill>
              <a:srgbClr val="F5A623"/>
            </a:solidFill>
            <a:prstDash val="solid"/>
          </a:ln>
        </p:spPr>
      </p:sp>
      <p:sp>
        <p:nvSpPr>
          <p:cNvPr id="13" name="Text 11"/>
          <p:cNvSpPr/>
          <p:nvPr/>
        </p:nvSpPr>
        <p:spPr>
          <a:xfrm>
            <a:off x="8046720" y="960120"/>
            <a:ext cx="640080" cy="36576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4" name="Shape 12"/>
          <p:cNvSpPr/>
          <p:nvPr/>
        </p:nvSpPr>
        <p:spPr>
          <a:xfrm>
            <a:off x="320040" y="2880360"/>
            <a:ext cx="4114800" cy="1828800"/>
          </a:xfrm>
          <a:prstGeom prst="roundRect">
            <a:avLst>
              <a:gd name="adj" fmla="val 6000"/>
            </a:avLst>
          </a:prstGeom>
          <a:solidFill>
            <a:srgbClr val="FFFFFF"/>
          </a:solidFill>
          <a:ln w="12700">
            <a:solidFill>
              <a:srgbClr val="E8F0EC"/>
            </a:solidFill>
            <a:prstDash val="solid"/>
          </a:ln>
          <a:effectLst>
            <a:outerShdw sx="100000" sy="100000" kx="0" ky="0" algn="bl" rotWithShape="0" blurRad="101600" dist="25400" dir="2700000">
              <a:srgbClr val="000000">
                <a:alpha val="8000"/>
              </a:srgbClr>
            </a:outerShdw>
          </a:effectLst>
        </p:spPr>
      </p:sp>
      <p:sp>
        <p:nvSpPr>
          <p:cNvPr id="15" name="Text 13"/>
          <p:cNvSpPr/>
          <p:nvPr/>
        </p:nvSpPr>
        <p:spPr>
          <a:xfrm>
            <a:off x="484632" y="3044952"/>
            <a:ext cx="3749040" cy="411480"/>
          </a:xfrm>
          <a:prstGeom prst="rect">
            <a:avLst/>
          </a:prstGeom>
          <a:noFill/>
          <a:ln/>
        </p:spPr>
        <p:txBody>
          <a:bodyPr wrap="square" rtlCol="0" anchor="ctr"/>
          <a:lstStyle/>
          <a:p>
            <a:pPr indent="0" marL="0">
              <a:buNone/>
            </a:pPr>
            <a:r>
              <a:rPr lang="en-US" sz="1500" b="1" dirty="0">
                <a:solidFill>
                  <a:srgbClr val="1B3A2D"/>
                </a:solidFill>
                <a:latin typeface="Calibri" pitchFamily="34" charset="0"/>
                <a:ea typeface="Calibri" pitchFamily="34" charset="-122"/>
                <a:cs typeface="Calibri" pitchFamily="34" charset="-120"/>
              </a:rPr>
              <a:t>Scale Challenges</a:t>
            </a:r>
            <a:endParaRPr lang="en-US" sz="1500" dirty="0"/>
          </a:p>
        </p:txBody>
      </p:sp>
      <p:sp>
        <p:nvSpPr>
          <p:cNvPr id="16" name="Text 14"/>
          <p:cNvSpPr/>
          <p:nvPr/>
        </p:nvSpPr>
        <p:spPr>
          <a:xfrm>
            <a:off x="484632" y="3474720"/>
            <a:ext cx="3749040" cy="1005840"/>
          </a:xfrm>
          <a:prstGeom prst="rect">
            <a:avLst/>
          </a:prstGeom>
          <a:noFill/>
          <a:ln/>
        </p:spPr>
        <p:txBody>
          <a:bodyPr wrap="square" rtlCol="0" anchor="t"/>
          <a:lstStyle/>
          <a:p>
            <a:pPr indent="0" marL="0">
              <a:buNone/>
            </a:pPr>
            <a:r>
              <a:rPr lang="en-US" sz="1300" dirty="0">
                <a:solidFill>
                  <a:srgbClr val="3A5A47"/>
                </a:solidFill>
                <a:latin typeface="Calibri" pitchFamily="34" charset="0"/>
                <a:ea typeface="Calibri" pitchFamily="34" charset="-122"/>
                <a:cs typeface="Calibri" pitchFamily="34" charset="-120"/>
              </a:rPr>
              <a:t>Large-scale sorting in warehouses and factories requires automation.</a:t>
            </a:r>
            <a:endParaRPr lang="en-US" sz="1300" dirty="0"/>
          </a:p>
        </p:txBody>
      </p:sp>
      <p:sp>
        <p:nvSpPr>
          <p:cNvPr id="17" name="Shape 15"/>
          <p:cNvSpPr/>
          <p:nvPr/>
        </p:nvSpPr>
        <p:spPr>
          <a:xfrm>
            <a:off x="3611880" y="3017520"/>
            <a:ext cx="640080" cy="365760"/>
          </a:xfrm>
          <a:prstGeom prst="roundRect">
            <a:avLst>
              <a:gd name="adj" fmla="val 20000"/>
            </a:avLst>
          </a:prstGeom>
          <a:solidFill>
            <a:srgbClr val="F5A623">
              <a:alpha val="85000"/>
            </a:srgbClr>
          </a:solidFill>
          <a:ln w="12700">
            <a:solidFill>
              <a:srgbClr val="F5A623"/>
            </a:solidFill>
            <a:prstDash val="solid"/>
          </a:ln>
        </p:spPr>
      </p:sp>
      <p:sp>
        <p:nvSpPr>
          <p:cNvPr id="18" name="Text 16"/>
          <p:cNvSpPr/>
          <p:nvPr/>
        </p:nvSpPr>
        <p:spPr>
          <a:xfrm>
            <a:off x="3611880" y="3017520"/>
            <a:ext cx="640080" cy="36576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9" name="Shape 17"/>
          <p:cNvSpPr/>
          <p:nvPr/>
        </p:nvSpPr>
        <p:spPr>
          <a:xfrm>
            <a:off x="4754880" y="2880360"/>
            <a:ext cx="4114800" cy="1828800"/>
          </a:xfrm>
          <a:prstGeom prst="roundRect">
            <a:avLst>
              <a:gd name="adj" fmla="val 6000"/>
            </a:avLst>
          </a:prstGeom>
          <a:solidFill>
            <a:srgbClr val="FFFFFF"/>
          </a:solidFill>
          <a:ln w="12700">
            <a:solidFill>
              <a:srgbClr val="E8F0EC"/>
            </a:solidFill>
            <a:prstDash val="solid"/>
          </a:ln>
          <a:effectLst>
            <a:outerShdw sx="100000" sy="100000" kx="0" ky="0" algn="bl" rotWithShape="0" blurRad="101600" dist="25400" dir="2700000">
              <a:srgbClr val="000000">
                <a:alpha val="8000"/>
              </a:srgbClr>
            </a:outerShdw>
          </a:effectLst>
        </p:spPr>
      </p:sp>
      <p:sp>
        <p:nvSpPr>
          <p:cNvPr id="20" name="Text 18"/>
          <p:cNvSpPr/>
          <p:nvPr/>
        </p:nvSpPr>
        <p:spPr>
          <a:xfrm>
            <a:off x="4919472" y="3044952"/>
            <a:ext cx="3749040" cy="411480"/>
          </a:xfrm>
          <a:prstGeom prst="rect">
            <a:avLst/>
          </a:prstGeom>
          <a:noFill/>
          <a:ln/>
        </p:spPr>
        <p:txBody>
          <a:bodyPr wrap="square" rtlCol="0" anchor="ctr"/>
          <a:lstStyle/>
          <a:p>
            <a:pPr indent="0" marL="0">
              <a:buNone/>
            </a:pPr>
            <a:r>
              <a:rPr lang="en-US" sz="1500" b="1" dirty="0">
                <a:solidFill>
                  <a:srgbClr val="1B3A2D"/>
                </a:solidFill>
                <a:latin typeface="Calibri" pitchFamily="34" charset="0"/>
                <a:ea typeface="Calibri" pitchFamily="34" charset="-122"/>
                <a:cs typeface="Calibri" pitchFamily="34" charset="-120"/>
              </a:rPr>
              <a:t>Deep Learning Solution</a:t>
            </a:r>
            <a:endParaRPr lang="en-US" sz="1500" dirty="0"/>
          </a:p>
        </p:txBody>
      </p:sp>
      <p:sp>
        <p:nvSpPr>
          <p:cNvPr id="21" name="Text 19"/>
          <p:cNvSpPr/>
          <p:nvPr/>
        </p:nvSpPr>
        <p:spPr>
          <a:xfrm>
            <a:off x="4919472" y="3474720"/>
            <a:ext cx="3749040" cy="1005840"/>
          </a:xfrm>
          <a:prstGeom prst="rect">
            <a:avLst/>
          </a:prstGeom>
          <a:noFill/>
          <a:ln/>
        </p:spPr>
        <p:txBody>
          <a:bodyPr wrap="square" rtlCol="0" anchor="t"/>
          <a:lstStyle/>
          <a:p>
            <a:pPr indent="0" marL="0">
              <a:buNone/>
            </a:pPr>
            <a:r>
              <a:rPr lang="en-US" sz="1300" dirty="0">
                <a:solidFill>
                  <a:srgbClr val="3A5A47"/>
                </a:solidFill>
                <a:latin typeface="Calibri" pitchFamily="34" charset="0"/>
                <a:ea typeface="Calibri" pitchFamily="34" charset="-122"/>
                <a:cs typeface="Calibri" pitchFamily="34" charset="-120"/>
              </a:rPr>
              <a:t>Automated image classification delivers fast, consistent, scalable detection.</a:t>
            </a:r>
            <a:endParaRPr lang="en-US" sz="1300" dirty="0"/>
          </a:p>
        </p:txBody>
      </p:sp>
      <p:sp>
        <p:nvSpPr>
          <p:cNvPr id="22" name="Shape 20"/>
          <p:cNvSpPr/>
          <p:nvPr/>
        </p:nvSpPr>
        <p:spPr>
          <a:xfrm>
            <a:off x="8046720" y="3017520"/>
            <a:ext cx="640080" cy="365760"/>
          </a:xfrm>
          <a:prstGeom prst="roundRect">
            <a:avLst>
              <a:gd name="adj" fmla="val 20000"/>
            </a:avLst>
          </a:prstGeom>
          <a:solidFill>
            <a:srgbClr val="F5A623">
              <a:alpha val="85000"/>
            </a:srgbClr>
          </a:solidFill>
          <a:ln w="12700">
            <a:solidFill>
              <a:srgbClr val="F5A623"/>
            </a:solidFill>
            <a:prstDash val="solid"/>
          </a:ln>
        </p:spPr>
      </p:sp>
      <p:sp>
        <p:nvSpPr>
          <p:cNvPr id="23" name="Text 21"/>
          <p:cNvSpPr/>
          <p:nvPr/>
        </p:nvSpPr>
        <p:spPr>
          <a:xfrm>
            <a:off x="8046720" y="3017520"/>
            <a:ext cx="640080" cy="36576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Dataset</a:t>
            </a:r>
            <a:endParaRPr lang="en-US" sz="2000" dirty="0"/>
          </a:p>
        </p:txBody>
      </p:sp>
      <p:sp>
        <p:nvSpPr>
          <p:cNvPr id="4" name="Text 2"/>
          <p:cNvSpPr/>
          <p:nvPr/>
        </p:nvSpPr>
        <p:spPr>
          <a:xfrm>
            <a:off x="320040" y="777240"/>
            <a:ext cx="4114800" cy="365760"/>
          </a:xfrm>
          <a:prstGeom prst="rect">
            <a:avLst/>
          </a:prstGeom>
          <a:noFill/>
          <a:ln/>
        </p:spPr>
        <p:txBody>
          <a:bodyPr wrap="square" rtlCol="0" anchor="ctr"/>
          <a:lstStyle/>
          <a:p>
            <a:pPr indent="0" marL="0">
              <a:buNone/>
            </a:pPr>
            <a:r>
              <a:rPr lang="en-US" sz="1500" b="1" dirty="0">
                <a:solidFill>
                  <a:srgbClr val="1B3A2D"/>
                </a:solidFill>
                <a:latin typeface="Calibri" pitchFamily="34" charset="0"/>
                <a:ea typeface="Calibri" pitchFamily="34" charset="-122"/>
                <a:cs typeface="Calibri" pitchFamily="34" charset="-120"/>
              </a:rPr>
              <a:t>Source</a:t>
            </a:r>
            <a:endParaRPr lang="en-US" sz="1500" dirty="0"/>
          </a:p>
        </p:txBody>
      </p:sp>
      <p:sp>
        <p:nvSpPr>
          <p:cNvPr id="5" name="Shape 3"/>
          <p:cNvSpPr/>
          <p:nvPr/>
        </p:nvSpPr>
        <p:spPr>
          <a:xfrm>
            <a:off x="320040" y="1143000"/>
            <a:ext cx="4114800" cy="640080"/>
          </a:xfrm>
          <a:prstGeom prst="roundRect">
            <a:avLst>
              <a:gd name="adj" fmla="val 14286"/>
            </a:avLst>
          </a:prstGeom>
          <a:solidFill>
            <a:srgbClr val="FFFFFF"/>
          </a:solidFill>
          <a:ln w="12700">
            <a:solidFill>
              <a:srgbClr val="E8F0EC"/>
            </a:solidFill>
            <a:prstDash val="solid"/>
          </a:ln>
        </p:spPr>
      </p:sp>
      <p:sp>
        <p:nvSpPr>
          <p:cNvPr id="6" name="Text 4"/>
          <p:cNvSpPr/>
          <p:nvPr/>
        </p:nvSpPr>
        <p:spPr>
          <a:xfrm>
            <a:off x="457200" y="1188720"/>
            <a:ext cx="3840480" cy="548640"/>
          </a:xfrm>
          <a:prstGeom prst="rect">
            <a:avLst/>
          </a:prstGeom>
          <a:noFill/>
          <a:ln/>
        </p:spPr>
        <p:txBody>
          <a:bodyPr wrap="square" rtlCol="0" anchor="ctr"/>
          <a:lstStyle/>
          <a:p>
            <a:pPr indent="0" marL="0">
              <a:buNone/>
            </a:pPr>
            <a:r>
              <a:rPr lang="en-US" sz="1300" dirty="0">
                <a:solidFill>
                  <a:srgbClr val="1B3A2D"/>
                </a:solidFill>
                <a:latin typeface="Calibri" pitchFamily="34" charset="0"/>
                <a:ea typeface="Calibri" pitchFamily="34" charset="-122"/>
                <a:cs typeface="Calibri" pitchFamily="34" charset="-120"/>
              </a:rPr>
              <a:t>Kaggle — Fresh and Rotten Fruits Dataset</a:t>
            </a:r>
            <a:endParaRPr lang="en-US" sz="1300" dirty="0"/>
          </a:p>
        </p:txBody>
      </p:sp>
      <p:sp>
        <p:nvSpPr>
          <p:cNvPr id="7" name="Text 5"/>
          <p:cNvSpPr/>
          <p:nvPr/>
        </p:nvSpPr>
        <p:spPr>
          <a:xfrm>
            <a:off x="320040" y="1920240"/>
            <a:ext cx="4114800" cy="365760"/>
          </a:xfrm>
          <a:prstGeom prst="rect">
            <a:avLst/>
          </a:prstGeom>
          <a:noFill/>
          <a:ln/>
        </p:spPr>
        <p:txBody>
          <a:bodyPr wrap="square" rtlCol="0" anchor="ctr"/>
          <a:lstStyle/>
          <a:p>
            <a:pPr indent="0" marL="0">
              <a:buNone/>
            </a:pPr>
            <a:r>
              <a:rPr lang="en-US" sz="1500" b="1" dirty="0">
                <a:solidFill>
                  <a:srgbClr val="1B3A2D"/>
                </a:solidFill>
                <a:latin typeface="Calibri" pitchFamily="34" charset="0"/>
                <a:ea typeface="Calibri" pitchFamily="34" charset="-122"/>
                <a:cs typeface="Calibri" pitchFamily="34" charset="-120"/>
              </a:rPr>
              <a:t>Training Parameters</a:t>
            </a:r>
            <a:endParaRPr lang="en-US" sz="1500" dirty="0"/>
          </a:p>
        </p:txBody>
      </p:sp>
      <p:sp>
        <p:nvSpPr>
          <p:cNvPr id="8" name="Shape 6"/>
          <p:cNvSpPr/>
          <p:nvPr/>
        </p:nvSpPr>
        <p:spPr>
          <a:xfrm>
            <a:off x="320040" y="2331720"/>
            <a:ext cx="4114800" cy="384048"/>
          </a:xfrm>
          <a:prstGeom prst="rect">
            <a:avLst/>
          </a:prstGeom>
          <a:solidFill>
            <a:srgbClr val="E8F0EC"/>
          </a:solidFill>
          <a:ln w="12700">
            <a:solidFill>
              <a:srgbClr val="E8F0EC"/>
            </a:solidFill>
            <a:prstDash val="solid"/>
          </a:ln>
        </p:spPr>
      </p:sp>
      <p:sp>
        <p:nvSpPr>
          <p:cNvPr id="9" name="Text 7"/>
          <p:cNvSpPr/>
          <p:nvPr/>
        </p:nvSpPr>
        <p:spPr>
          <a:xfrm>
            <a:off x="457200" y="2331720"/>
            <a:ext cx="2286000" cy="384048"/>
          </a:xfrm>
          <a:prstGeom prst="rect">
            <a:avLst/>
          </a:prstGeom>
          <a:noFill/>
          <a:ln/>
        </p:spPr>
        <p:txBody>
          <a:bodyPr wrap="square" rtlCol="0" anchor="ctr"/>
          <a:lstStyle/>
          <a:p>
            <a:pPr indent="0" marL="0">
              <a:buNone/>
            </a:pPr>
            <a:r>
              <a:rPr lang="en-US" sz="1300" dirty="0">
                <a:solidFill>
                  <a:srgbClr val="3A5A47"/>
                </a:solidFill>
                <a:latin typeface="Calibri" pitchFamily="34" charset="0"/>
                <a:ea typeface="Calibri" pitchFamily="34" charset="-122"/>
                <a:cs typeface="Calibri" pitchFamily="34" charset="-120"/>
              </a:rPr>
              <a:t>Image Size</a:t>
            </a:r>
            <a:endParaRPr lang="en-US" sz="1300" dirty="0"/>
          </a:p>
        </p:txBody>
      </p:sp>
      <p:sp>
        <p:nvSpPr>
          <p:cNvPr id="10" name="Text 8"/>
          <p:cNvSpPr/>
          <p:nvPr/>
        </p:nvSpPr>
        <p:spPr>
          <a:xfrm>
            <a:off x="2743200" y="2331720"/>
            <a:ext cx="1554480" cy="384048"/>
          </a:xfrm>
          <a:prstGeom prst="rect">
            <a:avLst/>
          </a:prstGeom>
          <a:noFill/>
          <a:ln/>
        </p:spPr>
        <p:txBody>
          <a:bodyPr wrap="square" rtlCol="0" anchor="ctr"/>
          <a:lstStyle/>
          <a:p>
            <a:pPr algn="r" indent="0" marL="0">
              <a:buNone/>
            </a:pPr>
            <a:r>
              <a:rPr lang="en-US" sz="1300" b="1" dirty="0">
                <a:solidFill>
                  <a:srgbClr val="1B3A2D"/>
                </a:solidFill>
                <a:latin typeface="Calibri" pitchFamily="34" charset="0"/>
                <a:ea typeface="Calibri" pitchFamily="34" charset="-122"/>
                <a:cs typeface="Calibri" pitchFamily="34" charset="-120"/>
              </a:rPr>
              <a:t>128 × 128 px</a:t>
            </a:r>
            <a:endParaRPr lang="en-US" sz="1300" dirty="0"/>
          </a:p>
        </p:txBody>
      </p:sp>
      <p:sp>
        <p:nvSpPr>
          <p:cNvPr id="11" name="Shape 9"/>
          <p:cNvSpPr/>
          <p:nvPr/>
        </p:nvSpPr>
        <p:spPr>
          <a:xfrm>
            <a:off x="320040" y="2724912"/>
            <a:ext cx="4114800" cy="384048"/>
          </a:xfrm>
          <a:prstGeom prst="rect">
            <a:avLst/>
          </a:prstGeom>
          <a:solidFill>
            <a:srgbClr val="FFFFFF"/>
          </a:solidFill>
          <a:ln w="12700">
            <a:solidFill>
              <a:srgbClr val="FFFFFF"/>
            </a:solidFill>
            <a:prstDash val="solid"/>
          </a:ln>
        </p:spPr>
      </p:sp>
      <p:sp>
        <p:nvSpPr>
          <p:cNvPr id="12" name="Text 10"/>
          <p:cNvSpPr/>
          <p:nvPr/>
        </p:nvSpPr>
        <p:spPr>
          <a:xfrm>
            <a:off x="457200" y="2724912"/>
            <a:ext cx="2286000" cy="384048"/>
          </a:xfrm>
          <a:prstGeom prst="rect">
            <a:avLst/>
          </a:prstGeom>
          <a:noFill/>
          <a:ln/>
        </p:spPr>
        <p:txBody>
          <a:bodyPr wrap="square" rtlCol="0" anchor="ctr"/>
          <a:lstStyle/>
          <a:p>
            <a:pPr indent="0" marL="0">
              <a:buNone/>
            </a:pPr>
            <a:r>
              <a:rPr lang="en-US" sz="1300" dirty="0">
                <a:solidFill>
                  <a:srgbClr val="3A5A47"/>
                </a:solidFill>
                <a:latin typeface="Calibri" pitchFamily="34" charset="0"/>
                <a:ea typeface="Calibri" pitchFamily="34" charset="-122"/>
                <a:cs typeface="Calibri" pitchFamily="34" charset="-120"/>
              </a:rPr>
              <a:t>Batch Size</a:t>
            </a:r>
            <a:endParaRPr lang="en-US" sz="1300" dirty="0"/>
          </a:p>
        </p:txBody>
      </p:sp>
      <p:sp>
        <p:nvSpPr>
          <p:cNvPr id="13" name="Text 11"/>
          <p:cNvSpPr/>
          <p:nvPr/>
        </p:nvSpPr>
        <p:spPr>
          <a:xfrm>
            <a:off x="2743200" y="2724912"/>
            <a:ext cx="1554480" cy="384048"/>
          </a:xfrm>
          <a:prstGeom prst="rect">
            <a:avLst/>
          </a:prstGeom>
          <a:noFill/>
          <a:ln/>
        </p:spPr>
        <p:txBody>
          <a:bodyPr wrap="square" rtlCol="0" anchor="ctr"/>
          <a:lstStyle/>
          <a:p>
            <a:pPr algn="r" indent="0" marL="0">
              <a:buNone/>
            </a:pPr>
            <a:r>
              <a:rPr lang="en-US" sz="1300" b="1" dirty="0">
                <a:solidFill>
                  <a:srgbClr val="1B3A2D"/>
                </a:solidFill>
                <a:latin typeface="Calibri" pitchFamily="34" charset="0"/>
                <a:ea typeface="Calibri" pitchFamily="34" charset="-122"/>
                <a:cs typeface="Calibri" pitchFamily="34" charset="-120"/>
              </a:rPr>
              <a:t>16</a:t>
            </a:r>
            <a:endParaRPr lang="en-US" sz="1300" dirty="0"/>
          </a:p>
        </p:txBody>
      </p:sp>
      <p:sp>
        <p:nvSpPr>
          <p:cNvPr id="14" name="Shape 12"/>
          <p:cNvSpPr/>
          <p:nvPr/>
        </p:nvSpPr>
        <p:spPr>
          <a:xfrm>
            <a:off x="320040" y="3118104"/>
            <a:ext cx="4114800" cy="384048"/>
          </a:xfrm>
          <a:prstGeom prst="rect">
            <a:avLst/>
          </a:prstGeom>
          <a:solidFill>
            <a:srgbClr val="E8F0EC"/>
          </a:solidFill>
          <a:ln w="12700">
            <a:solidFill>
              <a:srgbClr val="E8F0EC"/>
            </a:solidFill>
            <a:prstDash val="solid"/>
          </a:ln>
        </p:spPr>
      </p:sp>
      <p:sp>
        <p:nvSpPr>
          <p:cNvPr id="15" name="Text 13"/>
          <p:cNvSpPr/>
          <p:nvPr/>
        </p:nvSpPr>
        <p:spPr>
          <a:xfrm>
            <a:off x="457200" y="3118104"/>
            <a:ext cx="2286000" cy="384048"/>
          </a:xfrm>
          <a:prstGeom prst="rect">
            <a:avLst/>
          </a:prstGeom>
          <a:noFill/>
          <a:ln/>
        </p:spPr>
        <p:txBody>
          <a:bodyPr wrap="square" rtlCol="0" anchor="ctr"/>
          <a:lstStyle/>
          <a:p>
            <a:pPr indent="0" marL="0">
              <a:buNone/>
            </a:pPr>
            <a:r>
              <a:rPr lang="en-US" sz="1300" dirty="0">
                <a:solidFill>
                  <a:srgbClr val="3A5A47"/>
                </a:solidFill>
                <a:latin typeface="Calibri" pitchFamily="34" charset="0"/>
                <a:ea typeface="Calibri" pitchFamily="34" charset="-122"/>
                <a:cs typeface="Calibri" pitchFamily="34" charset="-120"/>
              </a:rPr>
              <a:t>Epochs</a:t>
            </a:r>
            <a:endParaRPr lang="en-US" sz="1300" dirty="0"/>
          </a:p>
        </p:txBody>
      </p:sp>
      <p:sp>
        <p:nvSpPr>
          <p:cNvPr id="16" name="Text 14"/>
          <p:cNvSpPr/>
          <p:nvPr/>
        </p:nvSpPr>
        <p:spPr>
          <a:xfrm>
            <a:off x="2743200" y="3118104"/>
            <a:ext cx="1554480" cy="384048"/>
          </a:xfrm>
          <a:prstGeom prst="rect">
            <a:avLst/>
          </a:prstGeom>
          <a:noFill/>
          <a:ln/>
        </p:spPr>
        <p:txBody>
          <a:bodyPr wrap="square" rtlCol="0" anchor="ctr"/>
          <a:lstStyle/>
          <a:p>
            <a:pPr algn="r" indent="0" marL="0">
              <a:buNone/>
            </a:pPr>
            <a:r>
              <a:rPr lang="en-US" sz="1300" b="1" dirty="0">
                <a:solidFill>
                  <a:srgbClr val="1B3A2D"/>
                </a:solidFill>
                <a:latin typeface="Calibri" pitchFamily="34" charset="0"/>
                <a:ea typeface="Calibri" pitchFamily="34" charset="-122"/>
                <a:cs typeface="Calibri" pitchFamily="34" charset="-120"/>
              </a:rPr>
              <a:t>10</a:t>
            </a:r>
            <a:endParaRPr lang="en-US" sz="1300" dirty="0"/>
          </a:p>
        </p:txBody>
      </p:sp>
      <p:sp>
        <p:nvSpPr>
          <p:cNvPr id="17" name="Shape 15"/>
          <p:cNvSpPr/>
          <p:nvPr/>
        </p:nvSpPr>
        <p:spPr>
          <a:xfrm>
            <a:off x="320040" y="3511296"/>
            <a:ext cx="4114800" cy="384048"/>
          </a:xfrm>
          <a:prstGeom prst="rect">
            <a:avLst/>
          </a:prstGeom>
          <a:solidFill>
            <a:srgbClr val="FFFFFF"/>
          </a:solidFill>
          <a:ln w="12700">
            <a:solidFill>
              <a:srgbClr val="FFFFFF"/>
            </a:solidFill>
            <a:prstDash val="solid"/>
          </a:ln>
        </p:spPr>
      </p:sp>
      <p:sp>
        <p:nvSpPr>
          <p:cNvPr id="18" name="Text 16"/>
          <p:cNvSpPr/>
          <p:nvPr/>
        </p:nvSpPr>
        <p:spPr>
          <a:xfrm>
            <a:off x="457200" y="3511296"/>
            <a:ext cx="2286000" cy="384048"/>
          </a:xfrm>
          <a:prstGeom prst="rect">
            <a:avLst/>
          </a:prstGeom>
          <a:noFill/>
          <a:ln/>
        </p:spPr>
        <p:txBody>
          <a:bodyPr wrap="square" rtlCol="0" anchor="ctr"/>
          <a:lstStyle/>
          <a:p>
            <a:pPr indent="0" marL="0">
              <a:buNone/>
            </a:pPr>
            <a:r>
              <a:rPr lang="en-US" sz="1300" dirty="0">
                <a:solidFill>
                  <a:srgbClr val="3A5A47"/>
                </a:solidFill>
                <a:latin typeface="Calibri" pitchFamily="34" charset="0"/>
                <a:ea typeface="Calibri" pitchFamily="34" charset="-122"/>
                <a:cs typeface="Calibri" pitchFamily="34" charset="-120"/>
              </a:rPr>
              <a:t>Train Images</a:t>
            </a:r>
            <a:endParaRPr lang="en-US" sz="1300" dirty="0"/>
          </a:p>
        </p:txBody>
      </p:sp>
      <p:sp>
        <p:nvSpPr>
          <p:cNvPr id="19" name="Text 17"/>
          <p:cNvSpPr/>
          <p:nvPr/>
        </p:nvSpPr>
        <p:spPr>
          <a:xfrm>
            <a:off x="2743200" y="3511296"/>
            <a:ext cx="1554480" cy="384048"/>
          </a:xfrm>
          <a:prstGeom prst="rect">
            <a:avLst/>
          </a:prstGeom>
          <a:noFill/>
          <a:ln/>
        </p:spPr>
        <p:txBody>
          <a:bodyPr wrap="square" rtlCol="0" anchor="ctr"/>
          <a:lstStyle/>
          <a:p>
            <a:pPr algn="r" indent="0" marL="0">
              <a:buNone/>
            </a:pPr>
            <a:r>
              <a:rPr lang="en-US" sz="1300" b="1" dirty="0">
                <a:solidFill>
                  <a:srgbClr val="1B3A2D"/>
                </a:solidFill>
                <a:latin typeface="Calibri" pitchFamily="34" charset="0"/>
                <a:ea typeface="Calibri" pitchFamily="34" charset="-122"/>
                <a:cs typeface="Calibri" pitchFamily="34" charset="-120"/>
              </a:rPr>
              <a:t>8,723</a:t>
            </a:r>
            <a:endParaRPr lang="en-US" sz="1300" dirty="0"/>
          </a:p>
        </p:txBody>
      </p:sp>
      <p:sp>
        <p:nvSpPr>
          <p:cNvPr id="20" name="Shape 18"/>
          <p:cNvSpPr/>
          <p:nvPr/>
        </p:nvSpPr>
        <p:spPr>
          <a:xfrm>
            <a:off x="320040" y="3904488"/>
            <a:ext cx="4114800" cy="384048"/>
          </a:xfrm>
          <a:prstGeom prst="rect">
            <a:avLst/>
          </a:prstGeom>
          <a:solidFill>
            <a:srgbClr val="E8F0EC"/>
          </a:solidFill>
          <a:ln w="12700">
            <a:solidFill>
              <a:srgbClr val="E8F0EC"/>
            </a:solidFill>
            <a:prstDash val="solid"/>
          </a:ln>
        </p:spPr>
      </p:sp>
      <p:sp>
        <p:nvSpPr>
          <p:cNvPr id="21" name="Text 19"/>
          <p:cNvSpPr/>
          <p:nvPr/>
        </p:nvSpPr>
        <p:spPr>
          <a:xfrm>
            <a:off x="457200" y="3904488"/>
            <a:ext cx="2286000" cy="384048"/>
          </a:xfrm>
          <a:prstGeom prst="rect">
            <a:avLst/>
          </a:prstGeom>
          <a:noFill/>
          <a:ln/>
        </p:spPr>
        <p:txBody>
          <a:bodyPr wrap="square" rtlCol="0" anchor="ctr"/>
          <a:lstStyle/>
          <a:p>
            <a:pPr indent="0" marL="0">
              <a:buNone/>
            </a:pPr>
            <a:r>
              <a:rPr lang="en-US" sz="1300" dirty="0">
                <a:solidFill>
                  <a:srgbClr val="3A5A47"/>
                </a:solidFill>
                <a:latin typeface="Calibri" pitchFamily="34" charset="0"/>
                <a:ea typeface="Calibri" pitchFamily="34" charset="-122"/>
                <a:cs typeface="Calibri" pitchFamily="34" charset="-120"/>
              </a:rPr>
              <a:t>Validation</a:t>
            </a:r>
            <a:endParaRPr lang="en-US" sz="1300" dirty="0"/>
          </a:p>
        </p:txBody>
      </p:sp>
      <p:sp>
        <p:nvSpPr>
          <p:cNvPr id="22" name="Text 20"/>
          <p:cNvSpPr/>
          <p:nvPr/>
        </p:nvSpPr>
        <p:spPr>
          <a:xfrm>
            <a:off x="2743200" y="3904488"/>
            <a:ext cx="1554480" cy="384048"/>
          </a:xfrm>
          <a:prstGeom prst="rect">
            <a:avLst/>
          </a:prstGeom>
          <a:noFill/>
          <a:ln/>
        </p:spPr>
        <p:txBody>
          <a:bodyPr wrap="square" rtlCol="0" anchor="ctr"/>
          <a:lstStyle/>
          <a:p>
            <a:pPr algn="r" indent="0" marL="0">
              <a:buNone/>
            </a:pPr>
            <a:r>
              <a:rPr lang="en-US" sz="1300" b="1" dirty="0">
                <a:solidFill>
                  <a:srgbClr val="1B3A2D"/>
                </a:solidFill>
                <a:latin typeface="Calibri" pitchFamily="34" charset="0"/>
                <a:ea typeface="Calibri" pitchFamily="34" charset="-122"/>
                <a:cs typeface="Calibri" pitchFamily="34" charset="-120"/>
              </a:rPr>
              <a:t>2,178</a:t>
            </a:r>
            <a:endParaRPr lang="en-US" sz="1300" dirty="0"/>
          </a:p>
        </p:txBody>
      </p:sp>
      <p:sp>
        <p:nvSpPr>
          <p:cNvPr id="23" name="Shape 21"/>
          <p:cNvSpPr/>
          <p:nvPr/>
        </p:nvSpPr>
        <p:spPr>
          <a:xfrm>
            <a:off x="320040" y="4297680"/>
            <a:ext cx="4114800" cy="384048"/>
          </a:xfrm>
          <a:prstGeom prst="rect">
            <a:avLst/>
          </a:prstGeom>
          <a:solidFill>
            <a:srgbClr val="FFFFFF"/>
          </a:solidFill>
          <a:ln w="12700">
            <a:solidFill>
              <a:srgbClr val="FFFFFF"/>
            </a:solidFill>
            <a:prstDash val="solid"/>
          </a:ln>
        </p:spPr>
      </p:sp>
      <p:sp>
        <p:nvSpPr>
          <p:cNvPr id="24" name="Text 22"/>
          <p:cNvSpPr/>
          <p:nvPr/>
        </p:nvSpPr>
        <p:spPr>
          <a:xfrm>
            <a:off x="457200" y="4297680"/>
            <a:ext cx="2286000" cy="384048"/>
          </a:xfrm>
          <a:prstGeom prst="rect">
            <a:avLst/>
          </a:prstGeom>
          <a:noFill/>
          <a:ln/>
        </p:spPr>
        <p:txBody>
          <a:bodyPr wrap="square" rtlCol="0" anchor="ctr"/>
          <a:lstStyle/>
          <a:p>
            <a:pPr indent="0" marL="0">
              <a:buNone/>
            </a:pPr>
            <a:r>
              <a:rPr lang="en-US" sz="1300" dirty="0">
                <a:solidFill>
                  <a:srgbClr val="3A5A47"/>
                </a:solidFill>
                <a:latin typeface="Calibri" pitchFamily="34" charset="0"/>
                <a:ea typeface="Calibri" pitchFamily="34" charset="-122"/>
                <a:cs typeface="Calibri" pitchFamily="34" charset="-120"/>
              </a:rPr>
              <a:t>Test Images</a:t>
            </a:r>
            <a:endParaRPr lang="en-US" sz="1300" dirty="0"/>
          </a:p>
        </p:txBody>
      </p:sp>
      <p:sp>
        <p:nvSpPr>
          <p:cNvPr id="25" name="Text 23"/>
          <p:cNvSpPr/>
          <p:nvPr/>
        </p:nvSpPr>
        <p:spPr>
          <a:xfrm>
            <a:off x="2743200" y="4297680"/>
            <a:ext cx="1554480" cy="384048"/>
          </a:xfrm>
          <a:prstGeom prst="rect">
            <a:avLst/>
          </a:prstGeom>
          <a:noFill/>
          <a:ln/>
        </p:spPr>
        <p:txBody>
          <a:bodyPr wrap="square" rtlCol="0" anchor="ctr"/>
          <a:lstStyle/>
          <a:p>
            <a:pPr algn="r" indent="0" marL="0">
              <a:buNone/>
            </a:pPr>
            <a:r>
              <a:rPr lang="en-US" sz="1300" b="1" dirty="0">
                <a:solidFill>
                  <a:srgbClr val="1B3A2D"/>
                </a:solidFill>
                <a:latin typeface="Calibri" pitchFamily="34" charset="0"/>
                <a:ea typeface="Calibri" pitchFamily="34" charset="-122"/>
                <a:cs typeface="Calibri" pitchFamily="34" charset="-120"/>
              </a:rPr>
              <a:t>2,698</a:t>
            </a:r>
            <a:endParaRPr lang="en-US" sz="1300" dirty="0"/>
          </a:p>
        </p:txBody>
      </p:sp>
      <p:sp>
        <p:nvSpPr>
          <p:cNvPr id="26" name="Text 24"/>
          <p:cNvSpPr/>
          <p:nvPr/>
        </p:nvSpPr>
        <p:spPr>
          <a:xfrm>
            <a:off x="4754880" y="777240"/>
            <a:ext cx="4114800" cy="365760"/>
          </a:xfrm>
          <a:prstGeom prst="rect">
            <a:avLst/>
          </a:prstGeom>
          <a:noFill/>
          <a:ln/>
        </p:spPr>
        <p:txBody>
          <a:bodyPr wrap="square" rtlCol="0" anchor="ctr"/>
          <a:lstStyle/>
          <a:p>
            <a:pPr indent="0" marL="0">
              <a:buNone/>
            </a:pPr>
            <a:r>
              <a:rPr lang="en-US" sz="1500" b="1" dirty="0">
                <a:solidFill>
                  <a:srgbClr val="1B3A2D"/>
                </a:solidFill>
                <a:latin typeface="Calibri" pitchFamily="34" charset="0"/>
                <a:ea typeface="Calibri" pitchFamily="34" charset="-122"/>
                <a:cs typeface="Calibri" pitchFamily="34" charset="-120"/>
              </a:rPr>
              <a:t>6 Classification Classes</a:t>
            </a:r>
            <a:endParaRPr lang="en-US" sz="1500" dirty="0"/>
          </a:p>
        </p:txBody>
      </p:sp>
      <p:sp>
        <p:nvSpPr>
          <p:cNvPr id="27" name="Shape 25"/>
          <p:cNvSpPr/>
          <p:nvPr/>
        </p:nvSpPr>
        <p:spPr>
          <a:xfrm>
            <a:off x="4754880" y="1188720"/>
            <a:ext cx="1920240" cy="1005840"/>
          </a:xfrm>
          <a:prstGeom prst="roundRect">
            <a:avLst>
              <a:gd name="adj" fmla="val 10909"/>
            </a:avLst>
          </a:prstGeom>
          <a:solidFill>
            <a:srgbClr val="4CAF7D">
              <a:alpha val="15000"/>
            </a:srgbClr>
          </a:solidFill>
          <a:ln w="12700">
            <a:solidFill>
              <a:srgbClr val="4CAF7D"/>
            </a:solidFill>
            <a:prstDash val="solid"/>
          </a:ln>
        </p:spPr>
      </p:sp>
      <p:sp>
        <p:nvSpPr>
          <p:cNvPr id="28" name="Shape 26"/>
          <p:cNvSpPr/>
          <p:nvPr/>
        </p:nvSpPr>
        <p:spPr>
          <a:xfrm>
            <a:off x="4828032" y="1261872"/>
            <a:ext cx="274320" cy="274320"/>
          </a:xfrm>
          <a:prstGeom prst="ellipse">
            <a:avLst/>
          </a:prstGeom>
          <a:solidFill>
            <a:srgbClr val="4CAF7D"/>
          </a:solidFill>
          <a:ln w="12700">
            <a:solidFill>
              <a:srgbClr val="4CAF7D"/>
            </a:solidFill>
            <a:prstDash val="solid"/>
          </a:ln>
        </p:spPr>
      </p:sp>
      <p:sp>
        <p:nvSpPr>
          <p:cNvPr id="29" name="Text 27"/>
          <p:cNvSpPr/>
          <p:nvPr/>
        </p:nvSpPr>
        <p:spPr>
          <a:xfrm>
            <a:off x="4828032" y="1417320"/>
            <a:ext cx="1783080" cy="594360"/>
          </a:xfrm>
          <a:prstGeom prst="rect">
            <a:avLst/>
          </a:prstGeom>
          <a:noFill/>
          <a:ln/>
        </p:spPr>
        <p:txBody>
          <a:bodyPr wrap="square" rtlCol="0" anchor="ctr"/>
          <a:lstStyle/>
          <a:p>
            <a:pPr algn="ctr" indent="0" marL="0">
              <a:buNone/>
            </a:pPr>
            <a:r>
              <a:rPr lang="en-US" sz="1300" b="1" dirty="0">
                <a:solidFill>
                  <a:srgbClr val="1B3A2D"/>
                </a:solidFill>
                <a:latin typeface="Calibri" pitchFamily="34" charset="0"/>
                <a:ea typeface="Calibri" pitchFamily="34" charset="-122"/>
                <a:cs typeface="Calibri" pitchFamily="34" charset="-120"/>
              </a:rPr>
              <a:t>Fresh Apples</a:t>
            </a:r>
            <a:endParaRPr lang="en-US" sz="1300" dirty="0"/>
          </a:p>
        </p:txBody>
      </p:sp>
      <p:sp>
        <p:nvSpPr>
          <p:cNvPr id="30" name="Shape 28"/>
          <p:cNvSpPr/>
          <p:nvPr/>
        </p:nvSpPr>
        <p:spPr>
          <a:xfrm>
            <a:off x="6858000" y="1188720"/>
            <a:ext cx="1920240" cy="1005840"/>
          </a:xfrm>
          <a:prstGeom prst="roundRect">
            <a:avLst>
              <a:gd name="adj" fmla="val 10909"/>
            </a:avLst>
          </a:prstGeom>
          <a:solidFill>
            <a:srgbClr val="4CAF7D">
              <a:alpha val="15000"/>
            </a:srgbClr>
          </a:solidFill>
          <a:ln w="12700">
            <a:solidFill>
              <a:srgbClr val="4CAF7D"/>
            </a:solidFill>
            <a:prstDash val="solid"/>
          </a:ln>
        </p:spPr>
      </p:sp>
      <p:sp>
        <p:nvSpPr>
          <p:cNvPr id="31" name="Shape 29"/>
          <p:cNvSpPr/>
          <p:nvPr/>
        </p:nvSpPr>
        <p:spPr>
          <a:xfrm>
            <a:off x="6931152" y="1261872"/>
            <a:ext cx="274320" cy="274320"/>
          </a:xfrm>
          <a:prstGeom prst="ellipse">
            <a:avLst/>
          </a:prstGeom>
          <a:solidFill>
            <a:srgbClr val="4CAF7D"/>
          </a:solidFill>
          <a:ln w="12700">
            <a:solidFill>
              <a:srgbClr val="4CAF7D"/>
            </a:solidFill>
            <a:prstDash val="solid"/>
          </a:ln>
        </p:spPr>
      </p:sp>
      <p:sp>
        <p:nvSpPr>
          <p:cNvPr id="32" name="Text 30"/>
          <p:cNvSpPr/>
          <p:nvPr/>
        </p:nvSpPr>
        <p:spPr>
          <a:xfrm>
            <a:off x="6931152" y="1417320"/>
            <a:ext cx="1783080" cy="594360"/>
          </a:xfrm>
          <a:prstGeom prst="rect">
            <a:avLst/>
          </a:prstGeom>
          <a:noFill/>
          <a:ln/>
        </p:spPr>
        <p:txBody>
          <a:bodyPr wrap="square" rtlCol="0" anchor="ctr"/>
          <a:lstStyle/>
          <a:p>
            <a:pPr algn="ctr" indent="0" marL="0">
              <a:buNone/>
            </a:pPr>
            <a:r>
              <a:rPr lang="en-US" sz="1300" b="1" dirty="0">
                <a:solidFill>
                  <a:srgbClr val="1B3A2D"/>
                </a:solidFill>
                <a:latin typeface="Calibri" pitchFamily="34" charset="0"/>
                <a:ea typeface="Calibri" pitchFamily="34" charset="-122"/>
                <a:cs typeface="Calibri" pitchFamily="34" charset="-120"/>
              </a:rPr>
              <a:t>Fresh Bananas</a:t>
            </a:r>
            <a:endParaRPr lang="en-US" sz="1300" dirty="0"/>
          </a:p>
        </p:txBody>
      </p:sp>
      <p:sp>
        <p:nvSpPr>
          <p:cNvPr id="33" name="Shape 31"/>
          <p:cNvSpPr/>
          <p:nvPr/>
        </p:nvSpPr>
        <p:spPr>
          <a:xfrm>
            <a:off x="4754880" y="2377440"/>
            <a:ext cx="1920240" cy="1005840"/>
          </a:xfrm>
          <a:prstGeom prst="roundRect">
            <a:avLst>
              <a:gd name="adj" fmla="val 10909"/>
            </a:avLst>
          </a:prstGeom>
          <a:solidFill>
            <a:srgbClr val="4CAF7D">
              <a:alpha val="15000"/>
            </a:srgbClr>
          </a:solidFill>
          <a:ln w="12700">
            <a:solidFill>
              <a:srgbClr val="4CAF7D"/>
            </a:solidFill>
            <a:prstDash val="solid"/>
          </a:ln>
        </p:spPr>
      </p:sp>
      <p:sp>
        <p:nvSpPr>
          <p:cNvPr id="34" name="Shape 32"/>
          <p:cNvSpPr/>
          <p:nvPr/>
        </p:nvSpPr>
        <p:spPr>
          <a:xfrm>
            <a:off x="4828032" y="2450592"/>
            <a:ext cx="274320" cy="274320"/>
          </a:xfrm>
          <a:prstGeom prst="ellipse">
            <a:avLst/>
          </a:prstGeom>
          <a:solidFill>
            <a:srgbClr val="4CAF7D"/>
          </a:solidFill>
          <a:ln w="12700">
            <a:solidFill>
              <a:srgbClr val="4CAF7D"/>
            </a:solidFill>
            <a:prstDash val="solid"/>
          </a:ln>
        </p:spPr>
      </p:sp>
      <p:sp>
        <p:nvSpPr>
          <p:cNvPr id="35" name="Text 33"/>
          <p:cNvSpPr/>
          <p:nvPr/>
        </p:nvSpPr>
        <p:spPr>
          <a:xfrm>
            <a:off x="4828032" y="2606040"/>
            <a:ext cx="1783080" cy="594360"/>
          </a:xfrm>
          <a:prstGeom prst="rect">
            <a:avLst/>
          </a:prstGeom>
          <a:noFill/>
          <a:ln/>
        </p:spPr>
        <p:txBody>
          <a:bodyPr wrap="square" rtlCol="0" anchor="ctr"/>
          <a:lstStyle/>
          <a:p>
            <a:pPr algn="ctr" indent="0" marL="0">
              <a:buNone/>
            </a:pPr>
            <a:r>
              <a:rPr lang="en-US" sz="1300" b="1" dirty="0">
                <a:solidFill>
                  <a:srgbClr val="1B3A2D"/>
                </a:solidFill>
                <a:latin typeface="Calibri" pitchFamily="34" charset="0"/>
                <a:ea typeface="Calibri" pitchFamily="34" charset="-122"/>
                <a:cs typeface="Calibri" pitchFamily="34" charset="-120"/>
              </a:rPr>
              <a:t>Fresh Oranges</a:t>
            </a:r>
            <a:endParaRPr lang="en-US" sz="1300" dirty="0"/>
          </a:p>
        </p:txBody>
      </p:sp>
      <p:sp>
        <p:nvSpPr>
          <p:cNvPr id="36" name="Shape 34"/>
          <p:cNvSpPr/>
          <p:nvPr/>
        </p:nvSpPr>
        <p:spPr>
          <a:xfrm>
            <a:off x="6858000" y="2377440"/>
            <a:ext cx="1920240" cy="1005840"/>
          </a:xfrm>
          <a:prstGeom prst="roundRect">
            <a:avLst>
              <a:gd name="adj" fmla="val 10909"/>
            </a:avLst>
          </a:prstGeom>
          <a:solidFill>
            <a:srgbClr val="C0392B">
              <a:alpha val="15000"/>
            </a:srgbClr>
          </a:solidFill>
          <a:ln w="12700">
            <a:solidFill>
              <a:srgbClr val="C0392B"/>
            </a:solidFill>
            <a:prstDash val="solid"/>
          </a:ln>
        </p:spPr>
      </p:sp>
      <p:sp>
        <p:nvSpPr>
          <p:cNvPr id="37" name="Shape 35"/>
          <p:cNvSpPr/>
          <p:nvPr/>
        </p:nvSpPr>
        <p:spPr>
          <a:xfrm>
            <a:off x="6931152" y="2450592"/>
            <a:ext cx="274320" cy="274320"/>
          </a:xfrm>
          <a:prstGeom prst="ellipse">
            <a:avLst/>
          </a:prstGeom>
          <a:solidFill>
            <a:srgbClr val="C0392B"/>
          </a:solidFill>
          <a:ln w="12700">
            <a:solidFill>
              <a:srgbClr val="C0392B"/>
            </a:solidFill>
            <a:prstDash val="solid"/>
          </a:ln>
        </p:spPr>
      </p:sp>
      <p:sp>
        <p:nvSpPr>
          <p:cNvPr id="38" name="Text 36"/>
          <p:cNvSpPr/>
          <p:nvPr/>
        </p:nvSpPr>
        <p:spPr>
          <a:xfrm>
            <a:off x="6931152" y="2606040"/>
            <a:ext cx="1783080" cy="594360"/>
          </a:xfrm>
          <a:prstGeom prst="rect">
            <a:avLst/>
          </a:prstGeom>
          <a:noFill/>
          <a:ln/>
        </p:spPr>
        <p:txBody>
          <a:bodyPr wrap="square" rtlCol="0" anchor="ctr"/>
          <a:lstStyle/>
          <a:p>
            <a:pPr algn="ctr" indent="0" marL="0">
              <a:buNone/>
            </a:pPr>
            <a:r>
              <a:rPr lang="en-US" sz="1300" b="1" dirty="0">
                <a:solidFill>
                  <a:srgbClr val="1B3A2D"/>
                </a:solidFill>
                <a:latin typeface="Calibri" pitchFamily="34" charset="0"/>
                <a:ea typeface="Calibri" pitchFamily="34" charset="-122"/>
                <a:cs typeface="Calibri" pitchFamily="34" charset="-120"/>
              </a:rPr>
              <a:t>Rotten Apples</a:t>
            </a:r>
            <a:endParaRPr lang="en-US" sz="1300" dirty="0"/>
          </a:p>
        </p:txBody>
      </p:sp>
      <p:sp>
        <p:nvSpPr>
          <p:cNvPr id="39" name="Shape 37"/>
          <p:cNvSpPr/>
          <p:nvPr/>
        </p:nvSpPr>
        <p:spPr>
          <a:xfrm>
            <a:off x="4754880" y="3566160"/>
            <a:ext cx="1920240" cy="1005840"/>
          </a:xfrm>
          <a:prstGeom prst="roundRect">
            <a:avLst>
              <a:gd name="adj" fmla="val 10909"/>
            </a:avLst>
          </a:prstGeom>
          <a:solidFill>
            <a:srgbClr val="C0392B">
              <a:alpha val="15000"/>
            </a:srgbClr>
          </a:solidFill>
          <a:ln w="12700">
            <a:solidFill>
              <a:srgbClr val="C0392B"/>
            </a:solidFill>
            <a:prstDash val="solid"/>
          </a:ln>
        </p:spPr>
      </p:sp>
      <p:sp>
        <p:nvSpPr>
          <p:cNvPr id="40" name="Shape 38"/>
          <p:cNvSpPr/>
          <p:nvPr/>
        </p:nvSpPr>
        <p:spPr>
          <a:xfrm>
            <a:off x="4828032" y="3639312"/>
            <a:ext cx="274320" cy="274320"/>
          </a:xfrm>
          <a:prstGeom prst="ellipse">
            <a:avLst/>
          </a:prstGeom>
          <a:solidFill>
            <a:srgbClr val="C0392B"/>
          </a:solidFill>
          <a:ln w="12700">
            <a:solidFill>
              <a:srgbClr val="C0392B"/>
            </a:solidFill>
            <a:prstDash val="solid"/>
          </a:ln>
        </p:spPr>
      </p:sp>
      <p:sp>
        <p:nvSpPr>
          <p:cNvPr id="41" name="Text 39"/>
          <p:cNvSpPr/>
          <p:nvPr/>
        </p:nvSpPr>
        <p:spPr>
          <a:xfrm>
            <a:off x="4828032" y="3794760"/>
            <a:ext cx="1783080" cy="594360"/>
          </a:xfrm>
          <a:prstGeom prst="rect">
            <a:avLst/>
          </a:prstGeom>
          <a:noFill/>
          <a:ln/>
        </p:spPr>
        <p:txBody>
          <a:bodyPr wrap="square" rtlCol="0" anchor="ctr"/>
          <a:lstStyle/>
          <a:p>
            <a:pPr algn="ctr" indent="0" marL="0">
              <a:buNone/>
            </a:pPr>
            <a:r>
              <a:rPr lang="en-US" sz="1300" b="1" dirty="0">
                <a:solidFill>
                  <a:srgbClr val="1B3A2D"/>
                </a:solidFill>
                <a:latin typeface="Calibri" pitchFamily="34" charset="0"/>
                <a:ea typeface="Calibri" pitchFamily="34" charset="-122"/>
                <a:cs typeface="Calibri" pitchFamily="34" charset="-120"/>
              </a:rPr>
              <a:t>Rotten Bananas</a:t>
            </a:r>
            <a:endParaRPr lang="en-US" sz="1300" dirty="0"/>
          </a:p>
        </p:txBody>
      </p:sp>
      <p:sp>
        <p:nvSpPr>
          <p:cNvPr id="42" name="Shape 40"/>
          <p:cNvSpPr/>
          <p:nvPr/>
        </p:nvSpPr>
        <p:spPr>
          <a:xfrm>
            <a:off x="6858000" y="3566160"/>
            <a:ext cx="1920240" cy="1005840"/>
          </a:xfrm>
          <a:prstGeom prst="roundRect">
            <a:avLst>
              <a:gd name="adj" fmla="val 10909"/>
            </a:avLst>
          </a:prstGeom>
          <a:solidFill>
            <a:srgbClr val="C0392B">
              <a:alpha val="15000"/>
            </a:srgbClr>
          </a:solidFill>
          <a:ln w="12700">
            <a:solidFill>
              <a:srgbClr val="C0392B"/>
            </a:solidFill>
            <a:prstDash val="solid"/>
          </a:ln>
        </p:spPr>
      </p:sp>
      <p:sp>
        <p:nvSpPr>
          <p:cNvPr id="43" name="Shape 41"/>
          <p:cNvSpPr/>
          <p:nvPr/>
        </p:nvSpPr>
        <p:spPr>
          <a:xfrm>
            <a:off x="6931152" y="3639312"/>
            <a:ext cx="274320" cy="274320"/>
          </a:xfrm>
          <a:prstGeom prst="ellipse">
            <a:avLst/>
          </a:prstGeom>
          <a:solidFill>
            <a:srgbClr val="C0392B"/>
          </a:solidFill>
          <a:ln w="12700">
            <a:solidFill>
              <a:srgbClr val="C0392B"/>
            </a:solidFill>
            <a:prstDash val="solid"/>
          </a:ln>
        </p:spPr>
      </p:sp>
      <p:sp>
        <p:nvSpPr>
          <p:cNvPr id="44" name="Text 42"/>
          <p:cNvSpPr/>
          <p:nvPr/>
        </p:nvSpPr>
        <p:spPr>
          <a:xfrm>
            <a:off x="6931152" y="3794760"/>
            <a:ext cx="1783080" cy="594360"/>
          </a:xfrm>
          <a:prstGeom prst="rect">
            <a:avLst/>
          </a:prstGeom>
          <a:noFill/>
          <a:ln/>
        </p:spPr>
        <p:txBody>
          <a:bodyPr wrap="square" rtlCol="0" anchor="ctr"/>
          <a:lstStyle/>
          <a:p>
            <a:pPr algn="ctr" indent="0" marL="0">
              <a:buNone/>
            </a:pPr>
            <a:r>
              <a:rPr lang="en-US" sz="1300" b="1" dirty="0">
                <a:solidFill>
                  <a:srgbClr val="1B3A2D"/>
                </a:solidFill>
                <a:latin typeface="Calibri" pitchFamily="34" charset="0"/>
                <a:ea typeface="Calibri" pitchFamily="34" charset="-122"/>
                <a:cs typeface="Calibri" pitchFamily="34" charset="-120"/>
              </a:rPr>
              <a:t>Rotten Oranges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Research Questions</a:t>
            </a:r>
            <a:endParaRPr lang="en-US" sz="2000" dirty="0"/>
          </a:p>
        </p:txBody>
      </p:sp>
      <p:sp>
        <p:nvSpPr>
          <p:cNvPr id="4" name="Shape 2"/>
          <p:cNvSpPr/>
          <p:nvPr/>
        </p:nvSpPr>
        <p:spPr>
          <a:xfrm>
            <a:off x="320040" y="777240"/>
            <a:ext cx="8503920" cy="914400"/>
          </a:xfrm>
          <a:prstGeom prst="roundRect">
            <a:avLst>
              <a:gd name="adj" fmla="val 10000"/>
            </a:avLst>
          </a:prstGeom>
          <a:solidFill>
            <a:srgbClr val="FFFFFF"/>
          </a:solidFill>
          <a:ln w="12700">
            <a:solidFill>
              <a:srgbClr val="E8F0EC"/>
            </a:solidFill>
            <a:prstDash val="solid"/>
          </a:ln>
          <a:effectLst>
            <a:outerShdw sx="100000" sy="100000" kx="0" ky="0" algn="bl" rotWithShape="0" blurRad="63500" dist="12700" dir="2700000">
              <a:srgbClr val="000000">
                <a:alpha val="7000"/>
              </a:srgbClr>
            </a:outerShdw>
          </a:effectLst>
        </p:spPr>
      </p:sp>
      <p:sp>
        <p:nvSpPr>
          <p:cNvPr id="5" name="Shape 3"/>
          <p:cNvSpPr/>
          <p:nvPr/>
        </p:nvSpPr>
        <p:spPr>
          <a:xfrm>
            <a:off x="320040" y="777240"/>
            <a:ext cx="594360" cy="914400"/>
          </a:xfrm>
          <a:prstGeom prst="roundRect">
            <a:avLst>
              <a:gd name="adj" fmla="val 15385"/>
            </a:avLst>
          </a:prstGeom>
          <a:solidFill>
            <a:srgbClr val="1B3A2D"/>
          </a:solidFill>
          <a:ln w="12700">
            <a:solidFill>
              <a:srgbClr val="1B3A2D"/>
            </a:solidFill>
            <a:prstDash val="solid"/>
          </a:ln>
        </p:spPr>
      </p:sp>
      <p:sp>
        <p:nvSpPr>
          <p:cNvPr id="6" name="Text 4"/>
          <p:cNvSpPr/>
          <p:nvPr/>
        </p:nvSpPr>
        <p:spPr>
          <a:xfrm>
            <a:off x="320040" y="777240"/>
            <a:ext cx="594360" cy="9144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7" name="Text 5"/>
          <p:cNvSpPr/>
          <p:nvPr/>
        </p:nvSpPr>
        <p:spPr>
          <a:xfrm>
            <a:off x="1051560" y="868680"/>
            <a:ext cx="7680960" cy="731520"/>
          </a:xfrm>
          <a:prstGeom prst="rect">
            <a:avLst/>
          </a:prstGeom>
          <a:noFill/>
          <a:ln/>
        </p:spPr>
        <p:txBody>
          <a:bodyPr wrap="square" rtlCol="0" anchor="ctr"/>
          <a:lstStyle/>
          <a:p>
            <a:pPr indent="0" marL="0">
              <a:buNone/>
            </a:pPr>
            <a:r>
              <a:rPr lang="en-US" sz="1500" dirty="0">
                <a:solidFill>
                  <a:srgbClr val="1B3A2D"/>
                </a:solidFill>
                <a:latin typeface="Calibri" pitchFamily="34" charset="0"/>
                <a:ea typeface="Calibri" pitchFamily="34" charset="-122"/>
                <a:cs typeface="Calibri" pitchFamily="34" charset="-120"/>
              </a:rPr>
              <a:t>Can a CNN accurately classify fresh and rotten fruits?</a:t>
            </a:r>
            <a:endParaRPr lang="en-US" sz="1500" dirty="0"/>
          </a:p>
        </p:txBody>
      </p:sp>
      <p:sp>
        <p:nvSpPr>
          <p:cNvPr id="8" name="Shape 6"/>
          <p:cNvSpPr/>
          <p:nvPr/>
        </p:nvSpPr>
        <p:spPr>
          <a:xfrm>
            <a:off x="320040" y="1801368"/>
            <a:ext cx="8503920" cy="914400"/>
          </a:xfrm>
          <a:prstGeom prst="roundRect">
            <a:avLst>
              <a:gd name="adj" fmla="val 10000"/>
            </a:avLst>
          </a:prstGeom>
          <a:solidFill>
            <a:srgbClr val="FFFFFF"/>
          </a:solidFill>
          <a:ln w="12700">
            <a:solidFill>
              <a:srgbClr val="E8F0EC"/>
            </a:solidFill>
            <a:prstDash val="solid"/>
          </a:ln>
          <a:effectLst>
            <a:outerShdw sx="100000" sy="100000" kx="0" ky="0" algn="bl" rotWithShape="0" blurRad="63500" dist="12700" dir="2700000">
              <a:srgbClr val="000000">
                <a:alpha val="7000"/>
              </a:srgbClr>
            </a:outerShdw>
          </a:effectLst>
        </p:spPr>
      </p:sp>
      <p:sp>
        <p:nvSpPr>
          <p:cNvPr id="9" name="Shape 7"/>
          <p:cNvSpPr/>
          <p:nvPr/>
        </p:nvSpPr>
        <p:spPr>
          <a:xfrm>
            <a:off x="320040" y="1801368"/>
            <a:ext cx="594360" cy="914400"/>
          </a:xfrm>
          <a:prstGeom prst="roundRect">
            <a:avLst>
              <a:gd name="adj" fmla="val 15385"/>
            </a:avLst>
          </a:prstGeom>
          <a:solidFill>
            <a:srgbClr val="1B3A2D"/>
          </a:solidFill>
          <a:ln w="12700">
            <a:solidFill>
              <a:srgbClr val="1B3A2D"/>
            </a:solidFill>
            <a:prstDash val="solid"/>
          </a:ln>
        </p:spPr>
      </p:sp>
      <p:sp>
        <p:nvSpPr>
          <p:cNvPr id="10" name="Text 8"/>
          <p:cNvSpPr/>
          <p:nvPr/>
        </p:nvSpPr>
        <p:spPr>
          <a:xfrm>
            <a:off x="320040" y="1801368"/>
            <a:ext cx="594360" cy="9144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1" name="Text 9"/>
          <p:cNvSpPr/>
          <p:nvPr/>
        </p:nvSpPr>
        <p:spPr>
          <a:xfrm>
            <a:off x="1051560" y="1892808"/>
            <a:ext cx="7680960" cy="731520"/>
          </a:xfrm>
          <a:prstGeom prst="rect">
            <a:avLst/>
          </a:prstGeom>
          <a:noFill/>
          <a:ln/>
        </p:spPr>
        <p:txBody>
          <a:bodyPr wrap="square" rtlCol="0" anchor="ctr"/>
          <a:lstStyle/>
          <a:p>
            <a:pPr indent="0" marL="0">
              <a:buNone/>
            </a:pPr>
            <a:r>
              <a:rPr lang="en-US" sz="1500" dirty="0">
                <a:solidFill>
                  <a:srgbClr val="1B3A2D"/>
                </a:solidFill>
                <a:latin typeface="Calibri" pitchFamily="34" charset="0"/>
                <a:ea typeface="Calibri" pitchFamily="34" charset="-122"/>
                <a:cs typeface="Calibri" pitchFamily="34" charset="-120"/>
              </a:rPr>
              <a:t>Does MobileNetV2 outperform the custom CNN?</a:t>
            </a:r>
            <a:endParaRPr lang="en-US" sz="1500" dirty="0"/>
          </a:p>
        </p:txBody>
      </p:sp>
      <p:sp>
        <p:nvSpPr>
          <p:cNvPr id="12" name="Shape 10"/>
          <p:cNvSpPr/>
          <p:nvPr/>
        </p:nvSpPr>
        <p:spPr>
          <a:xfrm>
            <a:off x="320040" y="2825496"/>
            <a:ext cx="8503920" cy="914400"/>
          </a:xfrm>
          <a:prstGeom prst="roundRect">
            <a:avLst>
              <a:gd name="adj" fmla="val 10000"/>
            </a:avLst>
          </a:prstGeom>
          <a:solidFill>
            <a:srgbClr val="FFFFFF"/>
          </a:solidFill>
          <a:ln w="12700">
            <a:solidFill>
              <a:srgbClr val="E8F0EC"/>
            </a:solidFill>
            <a:prstDash val="solid"/>
          </a:ln>
          <a:effectLst>
            <a:outerShdw sx="100000" sy="100000" kx="0" ky="0" algn="bl" rotWithShape="0" blurRad="63500" dist="12700" dir="2700000">
              <a:srgbClr val="000000">
                <a:alpha val="7000"/>
              </a:srgbClr>
            </a:outerShdw>
          </a:effectLst>
        </p:spPr>
      </p:sp>
      <p:sp>
        <p:nvSpPr>
          <p:cNvPr id="13" name="Shape 11"/>
          <p:cNvSpPr/>
          <p:nvPr/>
        </p:nvSpPr>
        <p:spPr>
          <a:xfrm>
            <a:off x="320040" y="2825496"/>
            <a:ext cx="594360" cy="914400"/>
          </a:xfrm>
          <a:prstGeom prst="roundRect">
            <a:avLst>
              <a:gd name="adj" fmla="val 15385"/>
            </a:avLst>
          </a:prstGeom>
          <a:solidFill>
            <a:srgbClr val="1B3A2D"/>
          </a:solidFill>
          <a:ln w="12700">
            <a:solidFill>
              <a:srgbClr val="1B3A2D"/>
            </a:solidFill>
            <a:prstDash val="solid"/>
          </a:ln>
        </p:spPr>
      </p:sp>
      <p:sp>
        <p:nvSpPr>
          <p:cNvPr id="14" name="Text 12"/>
          <p:cNvSpPr/>
          <p:nvPr/>
        </p:nvSpPr>
        <p:spPr>
          <a:xfrm>
            <a:off x="320040" y="2825496"/>
            <a:ext cx="594360" cy="9144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5" name="Text 13"/>
          <p:cNvSpPr/>
          <p:nvPr/>
        </p:nvSpPr>
        <p:spPr>
          <a:xfrm>
            <a:off x="1051560" y="2916936"/>
            <a:ext cx="7680960" cy="731520"/>
          </a:xfrm>
          <a:prstGeom prst="rect">
            <a:avLst/>
          </a:prstGeom>
          <a:noFill/>
          <a:ln/>
        </p:spPr>
        <p:txBody>
          <a:bodyPr wrap="square" rtlCol="0" anchor="ctr"/>
          <a:lstStyle/>
          <a:p>
            <a:pPr indent="0" marL="0">
              <a:buNone/>
            </a:pPr>
            <a:r>
              <a:rPr lang="en-US" sz="1500" dirty="0">
                <a:solidFill>
                  <a:srgbClr val="1B3A2D"/>
                </a:solidFill>
                <a:latin typeface="Calibri" pitchFamily="34" charset="0"/>
                <a:ea typeface="Calibri" pitchFamily="34" charset="-122"/>
                <a:cs typeface="Calibri" pitchFamily="34" charset="-120"/>
              </a:rPr>
              <a:t>Which model produces the highest accuracy?</a:t>
            </a:r>
            <a:endParaRPr lang="en-US" sz="1500" dirty="0"/>
          </a:p>
        </p:txBody>
      </p:sp>
      <p:sp>
        <p:nvSpPr>
          <p:cNvPr id="16" name="Shape 14"/>
          <p:cNvSpPr/>
          <p:nvPr/>
        </p:nvSpPr>
        <p:spPr>
          <a:xfrm>
            <a:off x="320040" y="3849624"/>
            <a:ext cx="8503920" cy="914400"/>
          </a:xfrm>
          <a:prstGeom prst="roundRect">
            <a:avLst>
              <a:gd name="adj" fmla="val 10000"/>
            </a:avLst>
          </a:prstGeom>
          <a:solidFill>
            <a:srgbClr val="FFFFFF"/>
          </a:solidFill>
          <a:ln w="12700">
            <a:solidFill>
              <a:srgbClr val="E8F0EC"/>
            </a:solidFill>
            <a:prstDash val="solid"/>
          </a:ln>
          <a:effectLst>
            <a:outerShdw sx="100000" sy="100000" kx="0" ky="0" algn="bl" rotWithShape="0" blurRad="63500" dist="12700" dir="2700000">
              <a:srgbClr val="000000">
                <a:alpha val="7000"/>
              </a:srgbClr>
            </a:outerShdw>
          </a:effectLst>
        </p:spPr>
      </p:sp>
      <p:sp>
        <p:nvSpPr>
          <p:cNvPr id="17" name="Shape 15"/>
          <p:cNvSpPr/>
          <p:nvPr/>
        </p:nvSpPr>
        <p:spPr>
          <a:xfrm>
            <a:off x="320040" y="3849624"/>
            <a:ext cx="594360" cy="914400"/>
          </a:xfrm>
          <a:prstGeom prst="roundRect">
            <a:avLst>
              <a:gd name="adj" fmla="val 15385"/>
            </a:avLst>
          </a:prstGeom>
          <a:solidFill>
            <a:srgbClr val="1B3A2D"/>
          </a:solidFill>
          <a:ln w="12700">
            <a:solidFill>
              <a:srgbClr val="1B3A2D"/>
            </a:solidFill>
            <a:prstDash val="solid"/>
          </a:ln>
        </p:spPr>
      </p:sp>
      <p:sp>
        <p:nvSpPr>
          <p:cNvPr id="18" name="Text 16"/>
          <p:cNvSpPr/>
          <p:nvPr/>
        </p:nvSpPr>
        <p:spPr>
          <a:xfrm>
            <a:off x="320040" y="3849624"/>
            <a:ext cx="594360" cy="9144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04</a:t>
            </a:r>
            <a:endParaRPr lang="en-US" sz="1600" dirty="0"/>
          </a:p>
        </p:txBody>
      </p:sp>
      <p:sp>
        <p:nvSpPr>
          <p:cNvPr id="19" name="Text 17"/>
          <p:cNvSpPr/>
          <p:nvPr/>
        </p:nvSpPr>
        <p:spPr>
          <a:xfrm>
            <a:off x="1051560" y="3941064"/>
            <a:ext cx="7680960" cy="731520"/>
          </a:xfrm>
          <a:prstGeom prst="rect">
            <a:avLst/>
          </a:prstGeom>
          <a:noFill/>
          <a:ln/>
        </p:spPr>
        <p:txBody>
          <a:bodyPr wrap="square" rtlCol="0" anchor="ctr"/>
          <a:lstStyle/>
          <a:p>
            <a:pPr indent="0" marL="0">
              <a:buNone/>
            </a:pPr>
            <a:r>
              <a:rPr lang="en-US" sz="1500" dirty="0">
                <a:solidFill>
                  <a:srgbClr val="1B3A2D"/>
                </a:solidFill>
                <a:latin typeface="Calibri" pitchFamily="34" charset="0"/>
                <a:ea typeface="Calibri" pitchFamily="34" charset="-122"/>
                <a:cs typeface="Calibri" pitchFamily="34" charset="-120"/>
              </a:rPr>
              <a:t>Which fruit classes are most difficult to classify?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Proposed Methodology</a:t>
            </a:r>
            <a:endParaRPr lang="en-US" sz="2000" dirty="0"/>
          </a:p>
        </p:txBody>
      </p:sp>
      <p:sp>
        <p:nvSpPr>
          <p:cNvPr id="4" name="Shape 2"/>
          <p:cNvSpPr/>
          <p:nvPr/>
        </p:nvSpPr>
        <p:spPr>
          <a:xfrm>
            <a:off x="274320" y="1097280"/>
            <a:ext cx="960120" cy="777240"/>
          </a:xfrm>
          <a:prstGeom prst="roundRect">
            <a:avLst>
              <a:gd name="adj" fmla="val 9412"/>
            </a:avLst>
          </a:prstGeom>
          <a:solidFill>
            <a:srgbClr val="065A82"/>
          </a:solidFill>
          <a:ln w="12700">
            <a:solidFill>
              <a:srgbClr val="065A82"/>
            </a:solidFill>
            <a:prstDash val="solid"/>
          </a:ln>
        </p:spPr>
      </p:sp>
      <p:sp>
        <p:nvSpPr>
          <p:cNvPr id="5" name="Text 3"/>
          <p:cNvSpPr/>
          <p:nvPr/>
        </p:nvSpPr>
        <p:spPr>
          <a:xfrm>
            <a:off x="274320" y="1097280"/>
            <a:ext cx="9601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Dataset</a:t>
            </a:r>
            <a:endParaRPr lang="en-US" sz="1000" dirty="0"/>
          </a:p>
        </p:txBody>
      </p:sp>
      <p:sp>
        <p:nvSpPr>
          <p:cNvPr id="6" name="Shape 4"/>
          <p:cNvSpPr/>
          <p:nvPr/>
        </p:nvSpPr>
        <p:spPr>
          <a:xfrm>
            <a:off x="1234440" y="1481328"/>
            <a:ext cx="137160" cy="0"/>
          </a:xfrm>
          <a:prstGeom prst="line">
            <a:avLst/>
          </a:prstGeom>
          <a:noFill/>
          <a:ln w="19050">
            <a:solidFill>
              <a:srgbClr val="888888"/>
            </a:solidFill>
            <a:prstDash val="solid"/>
          </a:ln>
        </p:spPr>
      </p:sp>
      <p:sp>
        <p:nvSpPr>
          <p:cNvPr id="7" name="Shape 5"/>
          <p:cNvSpPr/>
          <p:nvPr/>
        </p:nvSpPr>
        <p:spPr>
          <a:xfrm>
            <a:off x="1371600" y="1097280"/>
            <a:ext cx="960120" cy="777240"/>
          </a:xfrm>
          <a:prstGeom prst="roundRect">
            <a:avLst>
              <a:gd name="adj" fmla="val 9412"/>
            </a:avLst>
          </a:prstGeom>
          <a:solidFill>
            <a:srgbClr val="1C7293"/>
          </a:solidFill>
          <a:ln w="12700">
            <a:solidFill>
              <a:srgbClr val="1C7293"/>
            </a:solidFill>
            <a:prstDash val="solid"/>
          </a:ln>
        </p:spPr>
      </p:sp>
      <p:sp>
        <p:nvSpPr>
          <p:cNvPr id="8" name="Text 6"/>
          <p:cNvSpPr/>
          <p:nvPr/>
        </p:nvSpPr>
        <p:spPr>
          <a:xfrm>
            <a:off x="1371600" y="1097280"/>
            <a:ext cx="9601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Preprocessing</a:t>
            </a:r>
            <a:endParaRPr lang="en-US" sz="1000" dirty="0"/>
          </a:p>
        </p:txBody>
      </p:sp>
      <p:sp>
        <p:nvSpPr>
          <p:cNvPr id="9" name="Shape 7"/>
          <p:cNvSpPr/>
          <p:nvPr/>
        </p:nvSpPr>
        <p:spPr>
          <a:xfrm>
            <a:off x="2331720" y="1481328"/>
            <a:ext cx="137160" cy="0"/>
          </a:xfrm>
          <a:prstGeom prst="line">
            <a:avLst/>
          </a:prstGeom>
          <a:noFill/>
          <a:ln w="19050">
            <a:solidFill>
              <a:srgbClr val="888888"/>
            </a:solidFill>
            <a:prstDash val="solid"/>
          </a:ln>
        </p:spPr>
      </p:sp>
      <p:sp>
        <p:nvSpPr>
          <p:cNvPr id="10" name="Shape 8"/>
          <p:cNvSpPr/>
          <p:nvPr/>
        </p:nvSpPr>
        <p:spPr>
          <a:xfrm>
            <a:off x="2468880" y="1097280"/>
            <a:ext cx="960120" cy="777240"/>
          </a:xfrm>
          <a:prstGeom prst="roundRect">
            <a:avLst>
              <a:gd name="adj" fmla="val 9412"/>
            </a:avLst>
          </a:prstGeom>
          <a:solidFill>
            <a:srgbClr val="028090"/>
          </a:solidFill>
          <a:ln w="12700">
            <a:solidFill>
              <a:srgbClr val="028090"/>
            </a:solidFill>
            <a:prstDash val="solid"/>
          </a:ln>
        </p:spPr>
      </p:sp>
      <p:sp>
        <p:nvSpPr>
          <p:cNvPr id="11" name="Text 9"/>
          <p:cNvSpPr/>
          <p:nvPr/>
        </p:nvSpPr>
        <p:spPr>
          <a:xfrm>
            <a:off x="2468880" y="1097280"/>
            <a:ext cx="9601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Augmentation</a:t>
            </a:r>
            <a:endParaRPr lang="en-US" sz="1000" dirty="0"/>
          </a:p>
        </p:txBody>
      </p:sp>
      <p:sp>
        <p:nvSpPr>
          <p:cNvPr id="12" name="Shape 10"/>
          <p:cNvSpPr/>
          <p:nvPr/>
        </p:nvSpPr>
        <p:spPr>
          <a:xfrm>
            <a:off x="3429000" y="1481328"/>
            <a:ext cx="137160" cy="0"/>
          </a:xfrm>
          <a:prstGeom prst="line">
            <a:avLst/>
          </a:prstGeom>
          <a:noFill/>
          <a:ln w="19050">
            <a:solidFill>
              <a:srgbClr val="888888"/>
            </a:solidFill>
            <a:prstDash val="solid"/>
          </a:ln>
        </p:spPr>
      </p:sp>
      <p:sp>
        <p:nvSpPr>
          <p:cNvPr id="13" name="Shape 11"/>
          <p:cNvSpPr/>
          <p:nvPr/>
        </p:nvSpPr>
        <p:spPr>
          <a:xfrm>
            <a:off x="3566160" y="1097280"/>
            <a:ext cx="960120" cy="777240"/>
          </a:xfrm>
          <a:prstGeom prst="roundRect">
            <a:avLst>
              <a:gd name="adj" fmla="val 9412"/>
            </a:avLst>
          </a:prstGeom>
          <a:solidFill>
            <a:srgbClr val="00A896"/>
          </a:solidFill>
          <a:ln w="12700">
            <a:solidFill>
              <a:srgbClr val="00A896"/>
            </a:solidFill>
            <a:prstDash val="solid"/>
          </a:ln>
        </p:spPr>
      </p:sp>
      <p:sp>
        <p:nvSpPr>
          <p:cNvPr id="14" name="Text 12"/>
          <p:cNvSpPr/>
          <p:nvPr/>
        </p:nvSpPr>
        <p:spPr>
          <a:xfrm>
            <a:off x="3566160" y="1097280"/>
            <a:ext cx="9601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Train/Test Split</a:t>
            </a:r>
            <a:endParaRPr lang="en-US" sz="1000" dirty="0"/>
          </a:p>
        </p:txBody>
      </p:sp>
      <p:sp>
        <p:nvSpPr>
          <p:cNvPr id="15" name="Shape 13"/>
          <p:cNvSpPr/>
          <p:nvPr/>
        </p:nvSpPr>
        <p:spPr>
          <a:xfrm>
            <a:off x="4526280" y="1481328"/>
            <a:ext cx="137160" cy="0"/>
          </a:xfrm>
          <a:prstGeom prst="line">
            <a:avLst/>
          </a:prstGeom>
          <a:noFill/>
          <a:ln w="19050">
            <a:solidFill>
              <a:srgbClr val="888888"/>
            </a:solidFill>
            <a:prstDash val="solid"/>
          </a:ln>
        </p:spPr>
      </p:sp>
      <p:sp>
        <p:nvSpPr>
          <p:cNvPr id="16" name="Shape 14"/>
          <p:cNvSpPr/>
          <p:nvPr/>
        </p:nvSpPr>
        <p:spPr>
          <a:xfrm>
            <a:off x="4663440" y="1097280"/>
            <a:ext cx="960120" cy="777240"/>
          </a:xfrm>
          <a:prstGeom prst="roundRect">
            <a:avLst>
              <a:gd name="adj" fmla="val 9412"/>
            </a:avLst>
          </a:prstGeom>
          <a:solidFill>
            <a:srgbClr val="2E6B4F"/>
          </a:solidFill>
          <a:ln w="12700">
            <a:solidFill>
              <a:srgbClr val="2E6B4F"/>
            </a:solidFill>
            <a:prstDash val="solid"/>
          </a:ln>
        </p:spPr>
      </p:sp>
      <p:sp>
        <p:nvSpPr>
          <p:cNvPr id="17" name="Text 15"/>
          <p:cNvSpPr/>
          <p:nvPr/>
        </p:nvSpPr>
        <p:spPr>
          <a:xfrm>
            <a:off x="4663440" y="1097280"/>
            <a:ext cx="9601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 CNN</a:t>
            </a:r>
            <a:endParaRPr lang="en-US" sz="1000" dirty="0"/>
          </a:p>
        </p:txBody>
      </p:sp>
      <p:sp>
        <p:nvSpPr>
          <p:cNvPr id="18" name="Shape 16"/>
          <p:cNvSpPr/>
          <p:nvPr/>
        </p:nvSpPr>
        <p:spPr>
          <a:xfrm>
            <a:off x="5623560" y="1481328"/>
            <a:ext cx="137160" cy="0"/>
          </a:xfrm>
          <a:prstGeom prst="line">
            <a:avLst/>
          </a:prstGeom>
          <a:noFill/>
          <a:ln w="19050">
            <a:solidFill>
              <a:srgbClr val="888888"/>
            </a:solidFill>
            <a:prstDash val="solid"/>
          </a:ln>
        </p:spPr>
      </p:sp>
      <p:sp>
        <p:nvSpPr>
          <p:cNvPr id="19" name="Shape 17"/>
          <p:cNvSpPr/>
          <p:nvPr/>
        </p:nvSpPr>
        <p:spPr>
          <a:xfrm>
            <a:off x="5760720" y="1097280"/>
            <a:ext cx="960120" cy="777240"/>
          </a:xfrm>
          <a:prstGeom prst="roundRect">
            <a:avLst>
              <a:gd name="adj" fmla="val 9412"/>
            </a:avLst>
          </a:prstGeom>
          <a:solidFill>
            <a:srgbClr val="4CAF7D"/>
          </a:solidFill>
          <a:ln w="12700">
            <a:solidFill>
              <a:srgbClr val="4CAF7D"/>
            </a:solidFill>
            <a:prstDash val="solid"/>
          </a:ln>
        </p:spPr>
      </p:sp>
      <p:sp>
        <p:nvSpPr>
          <p:cNvPr id="20" name="Text 18"/>
          <p:cNvSpPr/>
          <p:nvPr/>
        </p:nvSpPr>
        <p:spPr>
          <a:xfrm>
            <a:off x="5760720" y="1097280"/>
            <a:ext cx="9601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MobileNetV2</a:t>
            </a:r>
            <a:endParaRPr lang="en-US" sz="1000" dirty="0"/>
          </a:p>
        </p:txBody>
      </p:sp>
      <p:sp>
        <p:nvSpPr>
          <p:cNvPr id="21" name="Shape 19"/>
          <p:cNvSpPr/>
          <p:nvPr/>
        </p:nvSpPr>
        <p:spPr>
          <a:xfrm>
            <a:off x="6720840" y="1481328"/>
            <a:ext cx="137160" cy="0"/>
          </a:xfrm>
          <a:prstGeom prst="line">
            <a:avLst/>
          </a:prstGeom>
          <a:noFill/>
          <a:ln w="19050">
            <a:solidFill>
              <a:srgbClr val="888888"/>
            </a:solidFill>
            <a:prstDash val="solid"/>
          </a:ln>
        </p:spPr>
      </p:sp>
      <p:sp>
        <p:nvSpPr>
          <p:cNvPr id="22" name="Shape 20"/>
          <p:cNvSpPr/>
          <p:nvPr/>
        </p:nvSpPr>
        <p:spPr>
          <a:xfrm>
            <a:off x="6858000" y="1097280"/>
            <a:ext cx="960120" cy="777240"/>
          </a:xfrm>
          <a:prstGeom prst="roundRect">
            <a:avLst>
              <a:gd name="adj" fmla="val 9412"/>
            </a:avLst>
          </a:prstGeom>
          <a:solidFill>
            <a:srgbClr val="F5A623"/>
          </a:solidFill>
          <a:ln w="12700">
            <a:solidFill>
              <a:srgbClr val="F5A623"/>
            </a:solidFill>
            <a:prstDash val="solid"/>
          </a:ln>
        </p:spPr>
      </p:sp>
      <p:sp>
        <p:nvSpPr>
          <p:cNvPr id="23" name="Text 21"/>
          <p:cNvSpPr/>
          <p:nvPr/>
        </p:nvSpPr>
        <p:spPr>
          <a:xfrm>
            <a:off x="6858000" y="1097280"/>
            <a:ext cx="9601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Prediction</a:t>
            </a:r>
            <a:endParaRPr lang="en-US" sz="1000" dirty="0"/>
          </a:p>
        </p:txBody>
      </p:sp>
      <p:sp>
        <p:nvSpPr>
          <p:cNvPr id="24" name="Shape 22"/>
          <p:cNvSpPr/>
          <p:nvPr/>
        </p:nvSpPr>
        <p:spPr>
          <a:xfrm>
            <a:off x="7818120" y="1481328"/>
            <a:ext cx="137160" cy="0"/>
          </a:xfrm>
          <a:prstGeom prst="line">
            <a:avLst/>
          </a:prstGeom>
          <a:noFill/>
          <a:ln w="19050">
            <a:solidFill>
              <a:srgbClr val="888888"/>
            </a:solidFill>
            <a:prstDash val="solid"/>
          </a:ln>
        </p:spPr>
      </p:sp>
      <p:sp>
        <p:nvSpPr>
          <p:cNvPr id="25" name="Shape 23"/>
          <p:cNvSpPr/>
          <p:nvPr/>
        </p:nvSpPr>
        <p:spPr>
          <a:xfrm>
            <a:off x="7955280" y="1097280"/>
            <a:ext cx="960120" cy="777240"/>
          </a:xfrm>
          <a:prstGeom prst="roundRect">
            <a:avLst>
              <a:gd name="adj" fmla="val 9412"/>
            </a:avLst>
          </a:prstGeom>
          <a:solidFill>
            <a:srgbClr val="C0392B"/>
          </a:solidFill>
          <a:ln w="12700">
            <a:solidFill>
              <a:srgbClr val="C0392B"/>
            </a:solidFill>
            <a:prstDash val="solid"/>
          </a:ln>
        </p:spPr>
      </p:sp>
      <p:sp>
        <p:nvSpPr>
          <p:cNvPr id="26" name="Text 24"/>
          <p:cNvSpPr/>
          <p:nvPr/>
        </p:nvSpPr>
        <p:spPr>
          <a:xfrm>
            <a:off x="7955280" y="1097280"/>
            <a:ext cx="9601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Evaluation</a:t>
            </a:r>
            <a:endParaRPr lang="en-US" sz="1000" dirty="0"/>
          </a:p>
        </p:txBody>
      </p:sp>
      <p:sp>
        <p:nvSpPr>
          <p:cNvPr id="27" name="Shape 25"/>
          <p:cNvSpPr/>
          <p:nvPr/>
        </p:nvSpPr>
        <p:spPr>
          <a:xfrm>
            <a:off x="320040" y="2194560"/>
            <a:ext cx="4114800" cy="2560320"/>
          </a:xfrm>
          <a:prstGeom prst="roundRect">
            <a:avLst>
              <a:gd name="adj" fmla="val 4286"/>
            </a:avLst>
          </a:prstGeom>
          <a:solidFill>
            <a:srgbClr val="FFFFFF"/>
          </a:solidFill>
          <a:ln w="12700">
            <a:solidFill>
              <a:srgbClr val="E8F0EC"/>
            </a:solidFill>
            <a:prstDash val="solid"/>
          </a:ln>
        </p:spPr>
      </p:sp>
      <p:sp>
        <p:nvSpPr>
          <p:cNvPr id="28" name="Shape 26"/>
          <p:cNvSpPr/>
          <p:nvPr/>
        </p:nvSpPr>
        <p:spPr>
          <a:xfrm>
            <a:off x="320040" y="2194560"/>
            <a:ext cx="4114800" cy="502920"/>
          </a:xfrm>
          <a:prstGeom prst="roundRect">
            <a:avLst>
              <a:gd name="adj" fmla="val 21818"/>
            </a:avLst>
          </a:prstGeom>
          <a:solidFill>
            <a:srgbClr val="1B3A2D"/>
          </a:solidFill>
          <a:ln w="12700">
            <a:solidFill>
              <a:srgbClr val="1B3A2D"/>
            </a:solidFill>
            <a:prstDash val="solid"/>
          </a:ln>
        </p:spPr>
      </p:sp>
      <p:sp>
        <p:nvSpPr>
          <p:cNvPr id="29" name="Text 27"/>
          <p:cNvSpPr/>
          <p:nvPr/>
        </p:nvSpPr>
        <p:spPr>
          <a:xfrm>
            <a:off x="320040" y="2194560"/>
            <a:ext cx="411480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Custom CNN</a:t>
            </a:r>
            <a:endParaRPr lang="en-US" sz="1500" dirty="0"/>
          </a:p>
        </p:txBody>
      </p:sp>
      <p:sp>
        <p:nvSpPr>
          <p:cNvPr id="30" name="Text 28"/>
          <p:cNvSpPr/>
          <p:nvPr/>
        </p:nvSpPr>
        <p:spPr>
          <a:xfrm>
            <a:off x="457200" y="2743200"/>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Conv2D (32 filters, ReLU)</a:t>
            </a:r>
            <a:endParaRPr lang="en-US" sz="1100" dirty="0"/>
          </a:p>
        </p:txBody>
      </p:sp>
      <p:sp>
        <p:nvSpPr>
          <p:cNvPr id="31" name="Text 29"/>
          <p:cNvSpPr/>
          <p:nvPr/>
        </p:nvSpPr>
        <p:spPr>
          <a:xfrm>
            <a:off x="457200" y="2990088"/>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MaxPooling2D</a:t>
            </a:r>
            <a:endParaRPr lang="en-US" sz="1100" dirty="0"/>
          </a:p>
        </p:txBody>
      </p:sp>
      <p:sp>
        <p:nvSpPr>
          <p:cNvPr id="32" name="Text 30"/>
          <p:cNvSpPr/>
          <p:nvPr/>
        </p:nvSpPr>
        <p:spPr>
          <a:xfrm>
            <a:off x="457200" y="3236976"/>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Conv2D (64 filters, ReLU)</a:t>
            </a:r>
            <a:endParaRPr lang="en-US" sz="1100" dirty="0"/>
          </a:p>
        </p:txBody>
      </p:sp>
      <p:sp>
        <p:nvSpPr>
          <p:cNvPr id="33" name="Text 31"/>
          <p:cNvSpPr/>
          <p:nvPr/>
        </p:nvSpPr>
        <p:spPr>
          <a:xfrm>
            <a:off x="457200" y="3483864"/>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MaxPooling2D</a:t>
            </a:r>
            <a:endParaRPr lang="en-US" sz="1100" dirty="0"/>
          </a:p>
        </p:txBody>
      </p:sp>
      <p:sp>
        <p:nvSpPr>
          <p:cNvPr id="34" name="Text 32"/>
          <p:cNvSpPr/>
          <p:nvPr/>
        </p:nvSpPr>
        <p:spPr>
          <a:xfrm>
            <a:off x="457200" y="3730752"/>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Conv2D (128 filters, ReLU)</a:t>
            </a:r>
            <a:endParaRPr lang="en-US" sz="1100" dirty="0"/>
          </a:p>
        </p:txBody>
      </p:sp>
      <p:sp>
        <p:nvSpPr>
          <p:cNvPr id="35" name="Text 33"/>
          <p:cNvSpPr/>
          <p:nvPr/>
        </p:nvSpPr>
        <p:spPr>
          <a:xfrm>
            <a:off x="457200" y="3977640"/>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MaxPooling2D</a:t>
            </a:r>
            <a:endParaRPr lang="en-US" sz="1100" dirty="0"/>
          </a:p>
        </p:txBody>
      </p:sp>
      <p:sp>
        <p:nvSpPr>
          <p:cNvPr id="36" name="Text 34"/>
          <p:cNvSpPr/>
          <p:nvPr/>
        </p:nvSpPr>
        <p:spPr>
          <a:xfrm>
            <a:off x="457200" y="4224528"/>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Flatten → Dense(256) → Dropout(0.5)</a:t>
            </a:r>
            <a:endParaRPr lang="en-US" sz="1100" dirty="0"/>
          </a:p>
        </p:txBody>
      </p:sp>
      <p:sp>
        <p:nvSpPr>
          <p:cNvPr id="37" name="Text 35"/>
          <p:cNvSpPr/>
          <p:nvPr/>
        </p:nvSpPr>
        <p:spPr>
          <a:xfrm>
            <a:off x="457200" y="4471416"/>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Softmax (6 classes)</a:t>
            </a:r>
            <a:endParaRPr lang="en-US" sz="1100" dirty="0"/>
          </a:p>
        </p:txBody>
      </p:sp>
      <p:sp>
        <p:nvSpPr>
          <p:cNvPr id="38" name="Shape 36"/>
          <p:cNvSpPr/>
          <p:nvPr/>
        </p:nvSpPr>
        <p:spPr>
          <a:xfrm>
            <a:off x="4709160" y="2194560"/>
            <a:ext cx="4114800" cy="2560320"/>
          </a:xfrm>
          <a:prstGeom prst="roundRect">
            <a:avLst>
              <a:gd name="adj" fmla="val 4286"/>
            </a:avLst>
          </a:prstGeom>
          <a:solidFill>
            <a:srgbClr val="FFFFFF"/>
          </a:solidFill>
          <a:ln w="12700">
            <a:solidFill>
              <a:srgbClr val="E8F0EC"/>
            </a:solidFill>
            <a:prstDash val="solid"/>
          </a:ln>
        </p:spPr>
      </p:sp>
      <p:sp>
        <p:nvSpPr>
          <p:cNvPr id="39" name="Shape 37"/>
          <p:cNvSpPr/>
          <p:nvPr/>
        </p:nvSpPr>
        <p:spPr>
          <a:xfrm>
            <a:off x="4709160" y="2194560"/>
            <a:ext cx="4114800" cy="502920"/>
          </a:xfrm>
          <a:prstGeom prst="roundRect">
            <a:avLst>
              <a:gd name="adj" fmla="val 21818"/>
            </a:avLst>
          </a:prstGeom>
          <a:solidFill>
            <a:srgbClr val="065A82"/>
          </a:solidFill>
          <a:ln w="12700">
            <a:solidFill>
              <a:srgbClr val="065A82"/>
            </a:solidFill>
            <a:prstDash val="solid"/>
          </a:ln>
        </p:spPr>
      </p:sp>
      <p:sp>
        <p:nvSpPr>
          <p:cNvPr id="40" name="Text 38"/>
          <p:cNvSpPr/>
          <p:nvPr/>
        </p:nvSpPr>
        <p:spPr>
          <a:xfrm>
            <a:off x="4709160" y="2194560"/>
            <a:ext cx="411480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MobileNetV2 (Transfer Learning)</a:t>
            </a:r>
            <a:endParaRPr lang="en-US" sz="1500" dirty="0"/>
          </a:p>
        </p:txBody>
      </p:sp>
      <p:sp>
        <p:nvSpPr>
          <p:cNvPr id="41" name="Text 39"/>
          <p:cNvSpPr/>
          <p:nvPr/>
        </p:nvSpPr>
        <p:spPr>
          <a:xfrm>
            <a:off x="4846320" y="2743200"/>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Pretrained MobileNetV2 (ImageNet)</a:t>
            </a:r>
            <a:endParaRPr lang="en-US" sz="1100" dirty="0"/>
          </a:p>
        </p:txBody>
      </p:sp>
      <p:sp>
        <p:nvSpPr>
          <p:cNvPr id="42" name="Text 40"/>
          <p:cNvSpPr/>
          <p:nvPr/>
        </p:nvSpPr>
        <p:spPr>
          <a:xfrm>
            <a:off x="4846320" y="2990088"/>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Frozen base layers</a:t>
            </a:r>
            <a:endParaRPr lang="en-US" sz="1100" dirty="0"/>
          </a:p>
        </p:txBody>
      </p:sp>
      <p:sp>
        <p:nvSpPr>
          <p:cNvPr id="43" name="Text 41"/>
          <p:cNvSpPr/>
          <p:nvPr/>
        </p:nvSpPr>
        <p:spPr>
          <a:xfrm>
            <a:off x="4846320" y="3236976"/>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GlobalAveragePooling2D</a:t>
            </a:r>
            <a:endParaRPr lang="en-US" sz="1100" dirty="0"/>
          </a:p>
        </p:txBody>
      </p:sp>
      <p:sp>
        <p:nvSpPr>
          <p:cNvPr id="44" name="Text 42"/>
          <p:cNvSpPr/>
          <p:nvPr/>
        </p:nvSpPr>
        <p:spPr>
          <a:xfrm>
            <a:off x="4846320" y="3483864"/>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Dense(128, ReLU)</a:t>
            </a:r>
            <a:endParaRPr lang="en-US" sz="1100" dirty="0"/>
          </a:p>
        </p:txBody>
      </p:sp>
      <p:sp>
        <p:nvSpPr>
          <p:cNvPr id="45" name="Text 43"/>
          <p:cNvSpPr/>
          <p:nvPr/>
        </p:nvSpPr>
        <p:spPr>
          <a:xfrm>
            <a:off x="4846320" y="3730752"/>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Dropout(0.5)</a:t>
            </a:r>
            <a:endParaRPr lang="en-US" sz="1100" dirty="0"/>
          </a:p>
        </p:txBody>
      </p:sp>
      <p:sp>
        <p:nvSpPr>
          <p:cNvPr id="46" name="Text 44"/>
          <p:cNvSpPr/>
          <p:nvPr/>
        </p:nvSpPr>
        <p:spPr>
          <a:xfrm>
            <a:off x="4846320" y="3977640"/>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Softmax (6 classes)</a:t>
            </a:r>
            <a:endParaRPr lang="en-US" sz="1100" dirty="0"/>
          </a:p>
        </p:txBody>
      </p:sp>
      <p:sp>
        <p:nvSpPr>
          <p:cNvPr id="47" name="Text 45"/>
          <p:cNvSpPr/>
          <p:nvPr/>
        </p:nvSpPr>
        <p:spPr>
          <a:xfrm>
            <a:off x="4846320" y="4224528"/>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Trainable params: 164,742</a:t>
            </a:r>
            <a:endParaRPr lang="en-US" sz="1100" dirty="0"/>
          </a:p>
        </p:txBody>
      </p:sp>
      <p:sp>
        <p:nvSpPr>
          <p:cNvPr id="48" name="Text 46"/>
          <p:cNvSpPr/>
          <p:nvPr/>
        </p:nvSpPr>
        <p:spPr>
          <a:xfrm>
            <a:off x="4846320" y="4471416"/>
            <a:ext cx="3840480" cy="256032"/>
          </a:xfrm>
          <a:prstGeom prst="rect">
            <a:avLst/>
          </a:prstGeom>
          <a:noFill/>
          <a:ln/>
        </p:spPr>
        <p:txBody>
          <a:bodyPr wrap="square" rtlCol="0" anchor="ctr"/>
          <a:lstStyle/>
          <a:p>
            <a:pPr marL="342900" indent="-342900">
              <a:buSzPct val="100000"/>
              <a:buChar char="•"/>
            </a:pPr>
            <a:r>
              <a:rPr lang="en-US" sz="1100" dirty="0">
                <a:solidFill>
                  <a:srgbClr val="3A5A47"/>
                </a:solidFill>
                <a:latin typeface="Calibri" pitchFamily="34" charset="0"/>
                <a:ea typeface="Calibri" pitchFamily="34" charset="-122"/>
                <a:cs typeface="Calibri" pitchFamily="34" charset="-120"/>
              </a:rPr>
              <a:t>Total params: 2,422,726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Training Process — CNN Learning Curves</a:t>
            </a:r>
            <a:endParaRPr lang="en-US" sz="2000" dirty="0"/>
          </a:p>
        </p:txBody>
      </p:sp>
      <p:sp>
        <p:nvSpPr>
          <p:cNvPr id="4" name="Text 2"/>
          <p:cNvSpPr/>
          <p:nvPr/>
        </p:nvSpPr>
        <p:spPr>
          <a:xfrm>
            <a:off x="320040" y="731520"/>
            <a:ext cx="8503920" cy="502920"/>
          </a:xfrm>
          <a:prstGeom prst="rect">
            <a:avLst/>
          </a:prstGeom>
          <a:noFill/>
          <a:ln/>
        </p:spPr>
        <p:txBody>
          <a:bodyPr wrap="square" rtlCol="0" anchor="ctr"/>
          <a:lstStyle/>
          <a:p>
            <a:pPr indent="0" marL="0">
              <a:buNone/>
            </a:pPr>
            <a:r>
              <a:rPr lang="en-US" sz="1300" i="1" dirty="0">
                <a:solidFill>
                  <a:srgbClr val="3A5A47"/>
                </a:solidFill>
                <a:latin typeface="Calibri" pitchFamily="34" charset="0"/>
                <a:ea typeface="Calibri" pitchFamily="34" charset="-122"/>
                <a:cs typeface="Calibri" pitchFamily="34" charset="-120"/>
              </a:rPr>
              <a:t>Both models trained for 10 epochs. Training accuracy rose steadily while validation accuracy converged, indicating strong generalisation.</a:t>
            </a:r>
            <a:endParaRPr lang="en-US" sz="1300" dirty="0"/>
          </a:p>
        </p:txBody>
      </p:sp>
      <p:pic>
        <p:nvPicPr>
          <p:cNvPr id="5" name="Image 0" descr="preencoded.png">    </p:cNvPr>
          <p:cNvPicPr>
            <a:picLocks noChangeAspect="1"/>
          </p:cNvPicPr>
          <p:nvPr/>
        </p:nvPicPr>
        <p:blipFill>
          <a:blip r:embed="rId1"/>
          <a:stretch>
            <a:fillRect/>
          </a:stretch>
        </p:blipFill>
        <p:spPr>
          <a:xfrm>
            <a:off x="274320" y="1234440"/>
            <a:ext cx="4434840" cy="2926080"/>
          </a:xfrm>
          <a:prstGeom prst="rect">
            <a:avLst/>
          </a:prstGeom>
        </p:spPr>
      </p:pic>
      <p:pic>
        <p:nvPicPr>
          <p:cNvPr id="6" name="Image 1" descr="preencoded.png">    </p:cNvPr>
          <p:cNvPicPr>
            <a:picLocks noChangeAspect="1"/>
          </p:cNvPicPr>
          <p:nvPr/>
        </p:nvPicPr>
        <p:blipFill>
          <a:blip r:embed="rId2"/>
          <a:stretch>
            <a:fillRect/>
          </a:stretch>
        </p:blipFill>
        <p:spPr>
          <a:xfrm>
            <a:off x="4663440" y="1234440"/>
            <a:ext cx="4251960" cy="2926080"/>
          </a:xfrm>
          <a:prstGeom prst="rect">
            <a:avLst/>
          </a:prstGeom>
        </p:spPr>
      </p:pic>
      <p:sp>
        <p:nvSpPr>
          <p:cNvPr id="7" name="Text 3"/>
          <p:cNvSpPr/>
          <p:nvPr/>
        </p:nvSpPr>
        <p:spPr>
          <a:xfrm>
            <a:off x="320040" y="4297680"/>
            <a:ext cx="2651760" cy="320040"/>
          </a:xfrm>
          <a:prstGeom prst="rect">
            <a:avLst/>
          </a:prstGeom>
          <a:noFill/>
          <a:ln/>
        </p:spPr>
        <p:txBody>
          <a:bodyPr wrap="square" rtlCol="0" anchor="ctr"/>
          <a:lstStyle/>
          <a:p>
            <a:pPr algn="ctr" indent="0" marL="0">
              <a:buNone/>
            </a:pPr>
            <a:r>
              <a:rPr lang="en-US" sz="1000" dirty="0">
                <a:solidFill>
                  <a:srgbClr val="7A9B8A"/>
                </a:solidFill>
                <a:latin typeface="Calibri" pitchFamily="34" charset="0"/>
                <a:ea typeface="Calibri" pitchFamily="34" charset="-122"/>
                <a:cs typeface="Calibri" pitchFamily="34" charset="-120"/>
              </a:rPr>
              <a:t>Epoch 1: Train 56.2% | Val 79.3%</a:t>
            </a:r>
            <a:endParaRPr lang="en-US" sz="1000" dirty="0"/>
          </a:p>
        </p:txBody>
      </p:sp>
      <p:sp>
        <p:nvSpPr>
          <p:cNvPr id="8" name="Text 4"/>
          <p:cNvSpPr/>
          <p:nvPr/>
        </p:nvSpPr>
        <p:spPr>
          <a:xfrm>
            <a:off x="3063240" y="4297680"/>
            <a:ext cx="2651760" cy="320040"/>
          </a:xfrm>
          <a:prstGeom prst="rect">
            <a:avLst/>
          </a:prstGeom>
          <a:noFill/>
          <a:ln/>
        </p:spPr>
        <p:txBody>
          <a:bodyPr wrap="square" rtlCol="0" anchor="ctr"/>
          <a:lstStyle/>
          <a:p>
            <a:pPr algn="ctr" indent="0" marL="0">
              <a:buNone/>
            </a:pPr>
            <a:r>
              <a:rPr lang="en-US" sz="1000" dirty="0">
                <a:solidFill>
                  <a:srgbClr val="7A9B8A"/>
                </a:solidFill>
                <a:latin typeface="Calibri" pitchFamily="34" charset="0"/>
                <a:ea typeface="Calibri" pitchFamily="34" charset="-122"/>
                <a:cs typeface="Calibri" pitchFamily="34" charset="-120"/>
              </a:rPr>
              <a:t>Epoch 5: Train 86.2% | Val 90.9%</a:t>
            </a:r>
            <a:endParaRPr lang="en-US" sz="1000" dirty="0"/>
          </a:p>
        </p:txBody>
      </p:sp>
      <p:sp>
        <p:nvSpPr>
          <p:cNvPr id="9" name="Text 5"/>
          <p:cNvSpPr/>
          <p:nvPr/>
        </p:nvSpPr>
        <p:spPr>
          <a:xfrm>
            <a:off x="5806440" y="4297680"/>
            <a:ext cx="2651760" cy="320040"/>
          </a:xfrm>
          <a:prstGeom prst="rect">
            <a:avLst/>
          </a:prstGeom>
          <a:noFill/>
          <a:ln/>
        </p:spPr>
        <p:txBody>
          <a:bodyPr wrap="square" rtlCol="0" anchor="ctr"/>
          <a:lstStyle/>
          <a:p>
            <a:pPr algn="ctr" indent="0" marL="0">
              <a:buNone/>
            </a:pPr>
            <a:r>
              <a:rPr lang="en-US" sz="1000" dirty="0">
                <a:solidFill>
                  <a:srgbClr val="7A9B8A"/>
                </a:solidFill>
                <a:latin typeface="Calibri" pitchFamily="34" charset="0"/>
                <a:ea typeface="Calibri" pitchFamily="34" charset="-122"/>
                <a:cs typeface="Calibri" pitchFamily="34" charset="-120"/>
              </a:rPr>
              <a:t>Epoch 10: Train 91.5% | Val 95.4%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Model Evaluation — CNN Confusion Matrix</a:t>
            </a:r>
            <a:endParaRPr lang="en-US" sz="2000" dirty="0"/>
          </a:p>
        </p:txBody>
      </p:sp>
      <p:pic>
        <p:nvPicPr>
          <p:cNvPr id="4" name="Image 0" descr="preencoded.png">    </p:cNvPr>
          <p:cNvPicPr>
            <a:picLocks noChangeAspect="1"/>
          </p:cNvPicPr>
          <p:nvPr/>
        </p:nvPicPr>
        <p:blipFill>
          <a:blip r:embed="rId1"/>
          <a:stretch>
            <a:fillRect/>
          </a:stretch>
        </p:blipFill>
        <p:spPr>
          <a:xfrm>
            <a:off x="320040" y="685800"/>
            <a:ext cx="4480560" cy="411480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937760" y="685800"/>
          <a:ext cx="3886200" cy="914400"/>
        </p:xfrm>
        <a:graphic>
          <a:graphicData uri="http://schemas.openxmlformats.org/drawingml/2006/table">
            <a:tbl>
              <a:tblPr/>
              <a:tblGrid>
                <a:gridCol w="1554480"/>
                <a:gridCol w="594360"/>
                <a:gridCol w="731520"/>
                <a:gridCol w="594360"/>
                <a:gridCol w="502920"/>
              </a:tblGrid>
              <a:tr h="0">
                <a:tc>
                  <a:txBody>
                    <a:bodyPr/>
                    <a:lstStyle/>
                    <a:p>
                      <a:pPr algn="l" indent="0" marL="0">
                        <a:buNone/>
                      </a:pPr>
                      <a:r>
                        <a:rPr lang="en-US" sz="1100" b="1" dirty="0">
                          <a:solidFill>
                            <a:srgbClr val="FFFFFF"/>
                          </a:solidFill>
                        </a:rPr>
                        <a:t>Class</a:t>
                      </a:r>
                      <a:endParaRPr lang="en-US" sz="11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1B3A2D"/>
                    </a:solidFill>
                  </a:tcPr>
                </a:tc>
                <a:tc>
                  <a:txBody>
                    <a:bodyPr/>
                    <a:lstStyle/>
                    <a:p>
                      <a:pPr algn="ctr" indent="0" marL="0">
                        <a:buNone/>
                      </a:pPr>
                      <a:r>
                        <a:rPr lang="en-US" sz="1100" b="1" dirty="0">
                          <a:solidFill>
                            <a:srgbClr val="FFFFFF"/>
                          </a:solidFill>
                        </a:rPr>
                        <a:t>Prec</a:t>
                      </a:r>
                      <a:endParaRPr lang="en-US" sz="11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1B3A2D"/>
                    </a:solidFill>
                  </a:tcPr>
                </a:tc>
                <a:tc>
                  <a:txBody>
                    <a:bodyPr/>
                    <a:lstStyle/>
                    <a:p>
                      <a:pPr algn="ctr" indent="0" marL="0">
                        <a:buNone/>
                      </a:pPr>
                      <a:r>
                        <a:rPr lang="en-US" sz="1100" b="1" dirty="0">
                          <a:solidFill>
                            <a:srgbClr val="FFFFFF"/>
                          </a:solidFill>
                        </a:rPr>
                        <a:t>Recall</a:t>
                      </a:r>
                      <a:endParaRPr lang="en-US" sz="11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1B3A2D"/>
                    </a:solidFill>
                  </a:tcPr>
                </a:tc>
                <a:tc>
                  <a:txBody>
                    <a:bodyPr/>
                    <a:lstStyle/>
                    <a:p>
                      <a:pPr algn="ctr" indent="0" marL="0">
                        <a:buNone/>
                      </a:pPr>
                      <a:r>
                        <a:rPr lang="en-US" sz="1100" b="1" dirty="0">
                          <a:solidFill>
                            <a:srgbClr val="FFFFFF"/>
                          </a:solidFill>
                        </a:rPr>
                        <a:t>F1</a:t>
                      </a:r>
                      <a:endParaRPr lang="en-US" sz="11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1B3A2D"/>
                    </a:solidFill>
                  </a:tcPr>
                </a:tc>
                <a:tc>
                  <a:txBody>
                    <a:bodyPr/>
                    <a:lstStyle/>
                    <a:p>
                      <a:pPr algn="ctr" indent="0" marL="0">
                        <a:buNone/>
                      </a:pPr>
                      <a:r>
                        <a:rPr lang="en-US" sz="1100" b="1" dirty="0">
                          <a:solidFill>
                            <a:srgbClr val="FFFFFF"/>
                          </a:solidFill>
                        </a:rPr>
                        <a:t>N</a:t>
                      </a:r>
                      <a:endParaRPr lang="en-US" sz="11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1B3A2D"/>
                    </a:solidFill>
                  </a:tcPr>
                </a:tc>
              </a:tr>
              <a:tr h="0">
                <a:tc>
                  <a:txBody>
                    <a:bodyPr/>
                    <a:lstStyle/>
                    <a:p>
                      <a:pPr algn="l" indent="0" marL="0">
                        <a:buNone/>
                      </a:pPr>
                      <a:r>
                        <a:rPr lang="en-US" sz="1000" dirty="0">
                          <a:solidFill>
                            <a:srgbClr val="1B3A2D"/>
                          </a:solidFill>
                        </a:rPr>
                        <a:t>Fresh Apples</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0.91</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0.97</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0.94</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395</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r>
              <a:tr h="0">
                <a:tc>
                  <a:txBody>
                    <a:bodyPr/>
                    <a:lstStyle/>
                    <a:p>
                      <a:pPr algn="l" indent="0" marL="0">
                        <a:buNone/>
                      </a:pPr>
                      <a:r>
                        <a:rPr lang="en-US" sz="1000" dirty="0">
                          <a:solidFill>
                            <a:srgbClr val="1B3A2D"/>
                          </a:solidFill>
                        </a:rPr>
                        <a:t>Fresh Bananas</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0.97</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0.99</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0.98</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381</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B3A2D"/>
                          </a:solidFill>
                        </a:rPr>
                        <a:t>Fresh Oranges</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0.95</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0.98</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0.96</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388</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r>
              <a:tr h="0">
                <a:tc>
                  <a:txBody>
                    <a:bodyPr/>
                    <a:lstStyle/>
                    <a:p>
                      <a:pPr algn="l" indent="0" marL="0">
                        <a:buNone/>
                      </a:pPr>
                      <a:r>
                        <a:rPr lang="en-US" sz="1000" dirty="0">
                          <a:solidFill>
                            <a:srgbClr val="1B3A2D"/>
                          </a:solidFill>
                        </a:rPr>
                        <a:t>Rotten Apples</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0.93</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0.92</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0.92</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601</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B3A2D"/>
                          </a:solidFill>
                        </a:rPr>
                        <a:t>Rotten Bananas</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0.99</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1.00</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0.99</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530</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r>
              <a:tr h="0">
                <a:tc>
                  <a:txBody>
                    <a:bodyPr/>
                    <a:lstStyle/>
                    <a:p>
                      <a:pPr algn="l" indent="0" marL="0">
                        <a:buNone/>
                      </a:pPr>
                      <a:r>
                        <a:rPr lang="en-US" sz="1000" dirty="0">
                          <a:solidFill>
                            <a:srgbClr val="1B3A2D"/>
                          </a:solidFill>
                        </a:rPr>
                        <a:t>Rotten Oranges</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0.99</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0.88</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0.93</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403</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r>
            </a:tbl>
          </a:graphicData>
        </a:graphic>
      </p:graphicFrame>
      <p:sp>
        <p:nvSpPr>
          <p:cNvPr id="6" name="Shape 2"/>
          <p:cNvSpPr/>
          <p:nvPr/>
        </p:nvSpPr>
        <p:spPr>
          <a:xfrm>
            <a:off x="4937760" y="3200400"/>
            <a:ext cx="3886200" cy="1554480"/>
          </a:xfrm>
          <a:prstGeom prst="roundRect">
            <a:avLst>
              <a:gd name="adj" fmla="val 7059"/>
            </a:avLst>
          </a:prstGeom>
          <a:solidFill>
            <a:srgbClr val="1B3A2D"/>
          </a:solidFill>
          <a:ln w="12700">
            <a:solidFill>
              <a:srgbClr val="1B3A2D"/>
            </a:solidFill>
            <a:prstDash val="solid"/>
          </a:ln>
        </p:spPr>
      </p:sp>
      <p:sp>
        <p:nvSpPr>
          <p:cNvPr id="7" name="Text 3"/>
          <p:cNvSpPr/>
          <p:nvPr/>
        </p:nvSpPr>
        <p:spPr>
          <a:xfrm>
            <a:off x="5029200" y="3291840"/>
            <a:ext cx="3703320" cy="365760"/>
          </a:xfrm>
          <a:prstGeom prst="rect">
            <a:avLst/>
          </a:prstGeom>
          <a:noFill/>
          <a:ln/>
        </p:spPr>
        <p:txBody>
          <a:bodyPr wrap="square" rtlCol="0" anchor="ctr"/>
          <a:lstStyle/>
          <a:p>
            <a:pPr algn="ctr" indent="0" marL="0">
              <a:buNone/>
            </a:pPr>
            <a:r>
              <a:rPr lang="en-US" sz="1300" dirty="0">
                <a:solidFill>
                  <a:srgbClr val="7A9B8A"/>
                </a:solidFill>
                <a:latin typeface="Calibri" pitchFamily="34" charset="0"/>
                <a:ea typeface="Calibri" pitchFamily="34" charset="-122"/>
                <a:cs typeface="Calibri" pitchFamily="34" charset="-120"/>
              </a:rPr>
              <a:t>CNN Overall Accuracy</a:t>
            </a:r>
            <a:endParaRPr lang="en-US" sz="1300" dirty="0"/>
          </a:p>
        </p:txBody>
      </p:sp>
      <p:sp>
        <p:nvSpPr>
          <p:cNvPr id="8" name="Text 4"/>
          <p:cNvSpPr/>
          <p:nvPr/>
        </p:nvSpPr>
        <p:spPr>
          <a:xfrm>
            <a:off x="5029200" y="3657600"/>
            <a:ext cx="3703320" cy="731520"/>
          </a:xfrm>
          <a:prstGeom prst="rect">
            <a:avLst/>
          </a:prstGeom>
          <a:noFill/>
          <a:ln/>
        </p:spPr>
        <p:txBody>
          <a:bodyPr wrap="square" rtlCol="0" anchor="ctr"/>
          <a:lstStyle/>
          <a:p>
            <a:pPr algn="ctr" indent="0" marL="0">
              <a:buNone/>
            </a:pPr>
            <a:r>
              <a:rPr lang="en-US" sz="3600" b="1" dirty="0">
                <a:solidFill>
                  <a:srgbClr val="F5A623"/>
                </a:solidFill>
                <a:latin typeface="Cambria" pitchFamily="34" charset="0"/>
                <a:ea typeface="Cambria" pitchFamily="34" charset="-122"/>
                <a:cs typeface="Cambria" pitchFamily="34" charset="-120"/>
              </a:rPr>
              <a:t>95.44%</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Model Evaluation — MobileNetV2 Confusion Matrix</a:t>
            </a:r>
            <a:endParaRPr lang="en-US" sz="2000" dirty="0"/>
          </a:p>
        </p:txBody>
      </p:sp>
      <p:pic>
        <p:nvPicPr>
          <p:cNvPr id="4" name="Image 0" descr="preencoded.png">    </p:cNvPr>
          <p:cNvPicPr>
            <a:picLocks noChangeAspect="1"/>
          </p:cNvPicPr>
          <p:nvPr/>
        </p:nvPicPr>
        <p:blipFill>
          <a:blip r:embed="rId1"/>
          <a:stretch>
            <a:fillRect/>
          </a:stretch>
        </p:blipFill>
        <p:spPr>
          <a:xfrm>
            <a:off x="320040" y="685800"/>
            <a:ext cx="4480560" cy="4114800"/>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937760" y="685800"/>
          <a:ext cx="3886200" cy="914400"/>
        </p:xfrm>
        <a:graphic>
          <a:graphicData uri="http://schemas.openxmlformats.org/drawingml/2006/table">
            <a:tbl>
              <a:tblPr/>
              <a:tblGrid>
                <a:gridCol w="1554480"/>
                <a:gridCol w="594360"/>
                <a:gridCol w="731520"/>
                <a:gridCol w="594360"/>
                <a:gridCol w="502920"/>
              </a:tblGrid>
              <a:tr h="0">
                <a:tc>
                  <a:txBody>
                    <a:bodyPr/>
                    <a:lstStyle/>
                    <a:p>
                      <a:pPr algn="l" indent="0" marL="0">
                        <a:buNone/>
                      </a:pPr>
                      <a:r>
                        <a:rPr lang="en-US" sz="1100" b="1" dirty="0">
                          <a:solidFill>
                            <a:srgbClr val="FFFFFF"/>
                          </a:solidFill>
                        </a:rPr>
                        <a:t>Class</a:t>
                      </a:r>
                      <a:endParaRPr lang="en-US" sz="11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rPr>
                        <a:t>Prec</a:t>
                      </a:r>
                      <a:endParaRPr lang="en-US" sz="11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rPr>
                        <a:t>Recall</a:t>
                      </a:r>
                      <a:endParaRPr lang="en-US" sz="11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rPr>
                        <a:t>F1</a:t>
                      </a:r>
                      <a:endParaRPr lang="en-US" sz="11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rPr>
                        <a:t>N</a:t>
                      </a:r>
                      <a:endParaRPr lang="en-US" sz="11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065A82"/>
                    </a:solidFill>
                  </a:tcPr>
                </a:tc>
              </a:tr>
              <a:tr h="0">
                <a:tc>
                  <a:txBody>
                    <a:bodyPr/>
                    <a:lstStyle/>
                    <a:p>
                      <a:pPr algn="l" indent="0" marL="0">
                        <a:buNone/>
                      </a:pPr>
                      <a:r>
                        <a:rPr lang="en-US" sz="1000" dirty="0">
                          <a:solidFill>
                            <a:srgbClr val="1B3A2D"/>
                          </a:solidFill>
                        </a:rPr>
                        <a:t>Fresh Apples</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0.98</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0.99</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0.98</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395</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r>
              <a:tr h="0">
                <a:tc>
                  <a:txBody>
                    <a:bodyPr/>
                    <a:lstStyle/>
                    <a:p>
                      <a:pPr algn="l" indent="0" marL="0">
                        <a:buNone/>
                      </a:pPr>
                      <a:r>
                        <a:rPr lang="en-US" sz="1000" dirty="0">
                          <a:solidFill>
                            <a:srgbClr val="1B3A2D"/>
                          </a:solidFill>
                        </a:rPr>
                        <a:t>Fresh Bananas</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1.00</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1.00</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1.00</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381</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B3A2D"/>
                          </a:solidFill>
                        </a:rPr>
                        <a:t>Fresh Oranges</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0.98</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0.99</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0.98</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388</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r>
              <a:tr h="0">
                <a:tc>
                  <a:txBody>
                    <a:bodyPr/>
                    <a:lstStyle/>
                    <a:p>
                      <a:pPr algn="l" indent="0" marL="0">
                        <a:buNone/>
                      </a:pPr>
                      <a:r>
                        <a:rPr lang="en-US" sz="1000" dirty="0">
                          <a:solidFill>
                            <a:srgbClr val="1B3A2D"/>
                          </a:solidFill>
                        </a:rPr>
                        <a:t>Rotten Apples</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0.97</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0.98</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0.98</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601</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1B3A2D"/>
                          </a:solidFill>
                        </a:rPr>
                        <a:t>Rotten Bananas</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1.00</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1.00</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1.00</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000" dirty="0">
                          <a:solidFill>
                            <a:srgbClr val="1B3A2D"/>
                          </a:solidFill>
                        </a:rPr>
                        <a:t>530</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r>
              <a:tr h="0">
                <a:tc>
                  <a:txBody>
                    <a:bodyPr/>
                    <a:lstStyle/>
                    <a:p>
                      <a:pPr algn="l" indent="0" marL="0">
                        <a:buNone/>
                      </a:pPr>
                      <a:r>
                        <a:rPr lang="en-US" sz="1000" dirty="0">
                          <a:solidFill>
                            <a:srgbClr val="1B3A2D"/>
                          </a:solidFill>
                        </a:rPr>
                        <a:t>Rotten Oranges</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0.99</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0.95</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0.97</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3A2D"/>
                          </a:solidFill>
                        </a:rPr>
                        <a:t>403</a:t>
                      </a:r>
                      <a:endParaRPr lang="en-US" sz="10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r>
            </a:tbl>
          </a:graphicData>
        </a:graphic>
      </p:graphicFrame>
      <p:sp>
        <p:nvSpPr>
          <p:cNvPr id="6" name="Shape 2"/>
          <p:cNvSpPr/>
          <p:nvPr/>
        </p:nvSpPr>
        <p:spPr>
          <a:xfrm>
            <a:off x="4937760" y="3200400"/>
            <a:ext cx="3886200" cy="1554480"/>
          </a:xfrm>
          <a:prstGeom prst="roundRect">
            <a:avLst>
              <a:gd name="adj" fmla="val 7059"/>
            </a:avLst>
          </a:prstGeom>
          <a:solidFill>
            <a:srgbClr val="065A82"/>
          </a:solidFill>
          <a:ln w="12700">
            <a:solidFill>
              <a:srgbClr val="065A82"/>
            </a:solidFill>
            <a:prstDash val="solid"/>
          </a:ln>
        </p:spPr>
      </p:sp>
      <p:sp>
        <p:nvSpPr>
          <p:cNvPr id="7" name="Text 3"/>
          <p:cNvSpPr/>
          <p:nvPr/>
        </p:nvSpPr>
        <p:spPr>
          <a:xfrm>
            <a:off x="5029200" y="3291840"/>
            <a:ext cx="3703320" cy="365760"/>
          </a:xfrm>
          <a:prstGeom prst="rect">
            <a:avLst/>
          </a:prstGeom>
          <a:noFill/>
          <a:ln/>
        </p:spPr>
        <p:txBody>
          <a:bodyPr wrap="square" rtlCol="0" anchor="ctr"/>
          <a:lstStyle/>
          <a:p>
            <a:pPr algn="ctr" indent="0" marL="0">
              <a:buNone/>
            </a:pPr>
            <a:r>
              <a:rPr lang="en-US" sz="1300" dirty="0">
                <a:solidFill>
                  <a:srgbClr val="AACCEE"/>
                </a:solidFill>
                <a:latin typeface="Calibri" pitchFamily="34" charset="0"/>
                <a:ea typeface="Calibri" pitchFamily="34" charset="-122"/>
                <a:cs typeface="Calibri" pitchFamily="34" charset="-120"/>
              </a:rPr>
              <a:t>MobileNetV2 Overall Accuracy</a:t>
            </a:r>
            <a:endParaRPr lang="en-US" sz="1300" dirty="0"/>
          </a:p>
        </p:txBody>
      </p:sp>
      <p:sp>
        <p:nvSpPr>
          <p:cNvPr id="8" name="Text 4"/>
          <p:cNvSpPr/>
          <p:nvPr/>
        </p:nvSpPr>
        <p:spPr>
          <a:xfrm>
            <a:off x="5029200" y="3657600"/>
            <a:ext cx="3703320" cy="731520"/>
          </a:xfrm>
          <a:prstGeom prst="rect">
            <a:avLst/>
          </a:prstGeom>
          <a:noFill/>
          <a:ln/>
        </p:spPr>
        <p:txBody>
          <a:bodyPr wrap="square" rtlCol="0" anchor="ctr"/>
          <a:lstStyle/>
          <a:p>
            <a:pPr algn="ctr" indent="0" marL="0">
              <a:buNone/>
            </a:pPr>
            <a:r>
              <a:rPr lang="en-US" sz="3600" b="1" dirty="0">
                <a:solidFill>
                  <a:srgbClr val="F5A623"/>
                </a:solidFill>
                <a:latin typeface="Cambria" pitchFamily="34" charset="0"/>
                <a:ea typeface="Cambria" pitchFamily="34" charset="-122"/>
                <a:cs typeface="Cambria" pitchFamily="34" charset="-120"/>
              </a:rPr>
              <a:t>98.52%</a:t>
            </a:r>
            <a:endParaRPr lang="en-US"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Performance Comparison</a:t>
            </a:r>
            <a:endParaRPr lang="en-US" sz="2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777240"/>
          <a:ext cx="5029200" cy="914400"/>
        </p:xfrm>
        <a:graphic>
          <a:graphicData uri="http://schemas.openxmlformats.org/drawingml/2006/table">
            <a:tbl>
              <a:tblPr/>
              <a:tblGrid>
                <a:gridCol w="1645920"/>
                <a:gridCol w="1691640"/>
                <a:gridCol w="1691640"/>
              </a:tblGrid>
              <a:tr h="0">
                <a:tc>
                  <a:txBody>
                    <a:bodyPr/>
                    <a:lstStyle/>
                    <a:p>
                      <a:pPr algn="ctr" indent="0" marL="0">
                        <a:buNone/>
                      </a:pPr>
                      <a:r>
                        <a:rPr lang="en-US" sz="1400" b="1" dirty="0">
                          <a:solidFill>
                            <a:srgbClr val="FFFFFF"/>
                          </a:solidFill>
                        </a:rPr>
                        <a:t>Metric</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1B3A2D"/>
                    </a:solidFill>
                  </a:tcPr>
                </a:tc>
                <a:tc>
                  <a:txBody>
                    <a:bodyPr/>
                    <a:lstStyle/>
                    <a:p>
                      <a:pPr algn="ctr" indent="0" marL="0">
                        <a:buNone/>
                      </a:pPr>
                      <a:r>
                        <a:rPr lang="en-US" sz="1400" b="1" dirty="0">
                          <a:solidFill>
                            <a:srgbClr val="FFFFFF"/>
                          </a:solidFill>
                        </a:rPr>
                        <a:t>Custom CNN</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1B3A2D"/>
                    </a:solidFill>
                  </a:tcPr>
                </a:tc>
                <a:tc>
                  <a:txBody>
                    <a:bodyPr/>
                    <a:lstStyle/>
                    <a:p>
                      <a:pPr algn="ctr" indent="0" marL="0">
                        <a:buNone/>
                      </a:pPr>
                      <a:r>
                        <a:rPr lang="en-US" sz="1400" b="1" dirty="0">
                          <a:solidFill>
                            <a:srgbClr val="FFFFFF"/>
                          </a:solidFill>
                        </a:rPr>
                        <a:t>MobileNetV2</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065A82"/>
                    </a:solidFill>
                  </a:tcPr>
                </a:tc>
              </a:tr>
              <a:tr h="0">
                <a:tc>
                  <a:txBody>
                    <a:bodyPr/>
                    <a:lstStyle/>
                    <a:p>
                      <a:pPr algn="ctr" indent="0" marL="0">
                        <a:buNone/>
                      </a:pPr>
                      <a:r>
                        <a:rPr lang="en-US" sz="1400" b="1" dirty="0">
                          <a:solidFill>
                            <a:srgbClr val="1B3A2D"/>
                          </a:solidFill>
                        </a:rPr>
                        <a:t>Accuracy</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400" dirty="0">
                          <a:solidFill>
                            <a:srgbClr val="3A5A47"/>
                          </a:solidFill>
                        </a:rPr>
                        <a:t>95.44%</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400" b="1" dirty="0">
                          <a:solidFill>
                            <a:srgbClr val="1B5E20"/>
                          </a:solidFill>
                        </a:rPr>
                        <a:t>98.52%</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D6F0E0"/>
                    </a:solidFill>
                  </a:tcPr>
                </a:tc>
              </a:tr>
              <a:tr h="0">
                <a:tc>
                  <a:txBody>
                    <a:bodyPr/>
                    <a:lstStyle/>
                    <a:p>
                      <a:pPr algn="ctr" indent="0" marL="0">
                        <a:buNone/>
                      </a:pPr>
                      <a:r>
                        <a:rPr lang="en-US" sz="1400" b="1" dirty="0">
                          <a:solidFill>
                            <a:srgbClr val="1B3A2D"/>
                          </a:solidFill>
                        </a:rPr>
                        <a:t>Precision</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A5A47"/>
                          </a:solidFill>
                        </a:rPr>
                        <a:t>95.52%</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5E20"/>
                          </a:solidFill>
                        </a:rPr>
                        <a:t>98.53%</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BF8F1"/>
                    </a:solidFill>
                  </a:tcPr>
                </a:tc>
              </a:tr>
              <a:tr h="0">
                <a:tc>
                  <a:txBody>
                    <a:bodyPr/>
                    <a:lstStyle/>
                    <a:p>
                      <a:pPr algn="ctr" indent="0" marL="0">
                        <a:buNone/>
                      </a:pPr>
                      <a:r>
                        <a:rPr lang="en-US" sz="1400" b="1" dirty="0">
                          <a:solidFill>
                            <a:srgbClr val="1B3A2D"/>
                          </a:solidFill>
                        </a:rPr>
                        <a:t>Recall</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400" dirty="0">
                          <a:solidFill>
                            <a:srgbClr val="3A5A47"/>
                          </a:solidFill>
                        </a:rPr>
                        <a:t>95.44%</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8F0EC"/>
                    </a:solidFill>
                  </a:tcPr>
                </a:tc>
                <a:tc>
                  <a:txBody>
                    <a:bodyPr/>
                    <a:lstStyle/>
                    <a:p>
                      <a:pPr algn="ctr" indent="0" marL="0">
                        <a:buNone/>
                      </a:pPr>
                      <a:r>
                        <a:rPr lang="en-US" sz="1400" b="1" dirty="0">
                          <a:solidFill>
                            <a:srgbClr val="1B5E20"/>
                          </a:solidFill>
                        </a:rPr>
                        <a:t>98.52%</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D6F0E0"/>
                    </a:solidFill>
                  </a:tcPr>
                </a:tc>
              </a:tr>
              <a:tr h="0">
                <a:tc>
                  <a:txBody>
                    <a:bodyPr/>
                    <a:lstStyle/>
                    <a:p>
                      <a:pPr algn="ctr" indent="0" marL="0">
                        <a:buNone/>
                      </a:pPr>
                      <a:r>
                        <a:rPr lang="en-US" sz="1400" b="1" dirty="0">
                          <a:solidFill>
                            <a:srgbClr val="1B3A2D"/>
                          </a:solidFill>
                        </a:rPr>
                        <a:t>F1-Score</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3A5A47"/>
                          </a:solidFill>
                        </a:rPr>
                        <a:t>95.42%</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5E20"/>
                          </a:solidFill>
                        </a:rPr>
                        <a:t>98.51%</a:t>
                      </a:r>
                      <a:endParaRPr lang="en-US" sz="1400" dirty="0"/>
                    </a:p>
                  </a:txBody>
                  <a:tcPr marL="91440" marR="91440" marT="45720" marB="45720">
                    <a:lnL w="6350" cap="flat" cmpd="sng" algn="ctr">
                      <a:solidFill>
                        <a:srgbClr val="E8F0EC"/>
                      </a:solidFill>
                      <a:prstDash val="solid"/>
                      <a:round/>
                      <a:headEnd type="none" w="med" len="med"/>
                      <a:tailEnd type="none" w="med" len="med"/>
                    </a:lnL>
                    <a:lnR w="6350" cap="flat" cmpd="sng" algn="ctr">
                      <a:solidFill>
                        <a:srgbClr val="E8F0EC"/>
                      </a:solidFill>
                      <a:prstDash val="solid"/>
                      <a:round/>
                      <a:headEnd type="none" w="med" len="med"/>
                      <a:tailEnd type="none" w="med" len="med"/>
                    </a:lnR>
                    <a:lnT w="6350" cap="flat" cmpd="sng" algn="ctr">
                      <a:solidFill>
                        <a:srgbClr val="E8F0EC"/>
                      </a:solidFill>
                      <a:prstDash val="solid"/>
                      <a:round/>
                      <a:headEnd type="none" w="med" len="med"/>
                      <a:tailEnd type="none" w="med" len="med"/>
                    </a:lnT>
                    <a:lnB w="6350" cap="flat" cmpd="sng" algn="ctr">
                      <a:solidFill>
                        <a:srgbClr val="E8F0EC"/>
                      </a:solidFill>
                      <a:prstDash val="solid"/>
                      <a:round/>
                      <a:headEnd type="none" w="med" len="med"/>
                      <a:tailEnd type="none" w="med" len="med"/>
                    </a:lnB>
                    <a:solidFill>
                      <a:srgbClr val="EBF8F1"/>
                    </a:solidFill>
                  </a:tcPr>
                </a:tc>
              </a:tr>
            </a:tbl>
          </a:graphicData>
        </a:graphic>
      </p:graphicFrame>
      <p:graphicFrame>
        <p:nvGraphicFramePr>
          <p:cNvPr id="5" name="Chart 0" descr=""/>
          <p:cNvGraphicFramePr/>
          <p:nvPr/>
        </p:nvGraphicFramePr>
        <p:xfrm>
          <a:off x="5440680" y="777240"/>
          <a:ext cx="3383280" cy="384048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320040" y="3840480"/>
            <a:ext cx="5029200" cy="822960"/>
          </a:xfrm>
          <a:prstGeom prst="roundRect">
            <a:avLst>
              <a:gd name="adj" fmla="val 11111"/>
            </a:avLst>
          </a:prstGeom>
          <a:solidFill>
            <a:srgbClr val="1B3A2D"/>
          </a:solidFill>
          <a:ln w="12700">
            <a:solidFill>
              <a:srgbClr val="1B3A2D"/>
            </a:solidFill>
            <a:prstDash val="solid"/>
          </a:ln>
        </p:spPr>
      </p:sp>
      <p:sp>
        <p:nvSpPr>
          <p:cNvPr id="7" name="Text 3"/>
          <p:cNvSpPr/>
          <p:nvPr/>
        </p:nvSpPr>
        <p:spPr>
          <a:xfrm>
            <a:off x="457200" y="3840480"/>
            <a:ext cx="4754880" cy="8229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MobileNetV2 outperforms Custom CNN by +3.08% accuracy, leveraging pretrained ImageNet weights for superior generalisation.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Sample Predictions — Both Models</a:t>
            </a:r>
            <a:endParaRPr lang="en-US" sz="2000" dirty="0"/>
          </a:p>
        </p:txBody>
      </p:sp>
      <p:sp>
        <p:nvSpPr>
          <p:cNvPr id="4" name="Text 2"/>
          <p:cNvSpPr/>
          <p:nvPr/>
        </p:nvSpPr>
        <p:spPr>
          <a:xfrm>
            <a:off x="320040" y="685800"/>
            <a:ext cx="8503920" cy="411480"/>
          </a:xfrm>
          <a:prstGeom prst="rect">
            <a:avLst/>
          </a:prstGeom>
          <a:noFill/>
          <a:ln/>
        </p:spPr>
        <p:txBody>
          <a:bodyPr wrap="square" rtlCol="0" anchor="ctr"/>
          <a:lstStyle/>
          <a:p>
            <a:pPr indent="0" marL="0">
              <a:buNone/>
            </a:pPr>
            <a:r>
              <a:rPr lang="en-US" sz="1200" i="1" dirty="0">
                <a:solidFill>
                  <a:srgbClr val="3A5A47"/>
                </a:solidFill>
                <a:latin typeface="Calibri" pitchFamily="34" charset="0"/>
                <a:ea typeface="Calibri" pitchFamily="34" charset="-122"/>
                <a:cs typeface="Calibri" pitchFamily="34" charset="-120"/>
              </a:rPr>
              <a:t>10 random test images with actual labels, CNN and MobileNetV2 predictions, and confidence scores.</a:t>
            </a:r>
            <a:endParaRPr lang="en-US" sz="1200" dirty="0"/>
          </a:p>
        </p:txBody>
      </p:sp>
      <p:pic>
        <p:nvPicPr>
          <p:cNvPr id="5" name="Image 0" descr="preencoded.png">    </p:cNvPr>
          <p:cNvPicPr>
            <a:picLocks noChangeAspect="1"/>
          </p:cNvPicPr>
          <p:nvPr/>
        </p:nvPicPr>
        <p:blipFill>
          <a:blip r:embed="rId1"/>
          <a:srcRect l="0" r="0" t="0" b="0"/>
          <a:stretch/>
        </p:blipFill>
        <p:spPr>
          <a:xfrm>
            <a:off x="91440" y="1097280"/>
            <a:ext cx="8961120" cy="3931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CNN — Misclassified Images (123 of 2,698)</a:t>
            </a:r>
            <a:endParaRPr lang="en-US" sz="2000" dirty="0"/>
          </a:p>
        </p:txBody>
      </p:sp>
      <p:sp>
        <p:nvSpPr>
          <p:cNvPr id="4" name="Text 2"/>
          <p:cNvSpPr/>
          <p:nvPr/>
        </p:nvSpPr>
        <p:spPr>
          <a:xfrm>
            <a:off x="320040" y="685800"/>
            <a:ext cx="8503920" cy="411480"/>
          </a:xfrm>
          <a:prstGeom prst="rect">
            <a:avLst/>
          </a:prstGeom>
          <a:noFill/>
          <a:ln/>
        </p:spPr>
        <p:txBody>
          <a:bodyPr wrap="square" rtlCol="0" anchor="ctr"/>
          <a:lstStyle/>
          <a:p>
            <a:pPr indent="0" marL="0">
              <a:buNone/>
            </a:pPr>
            <a:r>
              <a:rPr lang="en-US" sz="1200" i="1" dirty="0">
                <a:solidFill>
                  <a:srgbClr val="3A5A47"/>
                </a:solidFill>
                <a:latin typeface="Calibri" pitchFamily="34" charset="0"/>
                <a:ea typeface="Calibri" pitchFamily="34" charset="-122"/>
                <a:cs typeface="Calibri" pitchFamily="34" charset="-120"/>
              </a:rPr>
              <a:t>Only 123 images were misclassified — most errors involve visually similar fresh/rotten textures and lighting conditions.</a:t>
            </a:r>
            <a:endParaRPr lang="en-US" sz="1200" dirty="0"/>
          </a:p>
        </p:txBody>
      </p:sp>
      <p:pic>
        <p:nvPicPr>
          <p:cNvPr id="5" name="Image 0" descr="preencoded.png">    </p:cNvPr>
          <p:cNvPicPr>
            <a:picLocks noChangeAspect="1"/>
          </p:cNvPicPr>
          <p:nvPr/>
        </p:nvPicPr>
        <p:blipFill>
          <a:blip r:embed="rId1"/>
          <a:srcRect l="0" r="0" t="0" b="0"/>
          <a:stretch/>
        </p:blipFill>
        <p:spPr>
          <a:xfrm>
            <a:off x="365760" y="1188720"/>
            <a:ext cx="8412480" cy="2286000"/>
          </a:xfrm>
          <a:prstGeom prst="rect">
            <a:avLst/>
          </a:prstGeom>
        </p:spPr>
      </p:pic>
      <p:sp>
        <p:nvSpPr>
          <p:cNvPr id="6" name="Shape 3"/>
          <p:cNvSpPr/>
          <p:nvPr/>
        </p:nvSpPr>
        <p:spPr>
          <a:xfrm>
            <a:off x="320040" y="3611880"/>
            <a:ext cx="2743200" cy="1371600"/>
          </a:xfrm>
          <a:prstGeom prst="roundRect">
            <a:avLst>
              <a:gd name="adj" fmla="val 6667"/>
            </a:avLst>
          </a:prstGeom>
          <a:solidFill>
            <a:srgbClr val="FFF3E0"/>
          </a:solidFill>
          <a:ln w="12700">
            <a:solidFill>
              <a:srgbClr val="F5A623"/>
            </a:solidFill>
            <a:prstDash val="solid"/>
          </a:ln>
        </p:spPr>
      </p:sp>
      <p:sp>
        <p:nvSpPr>
          <p:cNvPr id="7" name="Text 4"/>
          <p:cNvSpPr/>
          <p:nvPr/>
        </p:nvSpPr>
        <p:spPr>
          <a:xfrm>
            <a:off x="411480" y="3657600"/>
            <a:ext cx="2560320" cy="365760"/>
          </a:xfrm>
          <a:prstGeom prst="rect">
            <a:avLst/>
          </a:prstGeom>
          <a:noFill/>
          <a:ln/>
        </p:spPr>
        <p:txBody>
          <a:bodyPr wrap="square" rtlCol="0" anchor="ctr"/>
          <a:lstStyle/>
          <a:p>
            <a:pPr indent="0" marL="0">
              <a:buNone/>
            </a:pPr>
            <a:r>
              <a:rPr lang="en-US" sz="1200" b="1" dirty="0">
                <a:solidFill>
                  <a:srgbClr val="1B3A2D"/>
                </a:solidFill>
                <a:latin typeface="Calibri" pitchFamily="34" charset="0"/>
                <a:ea typeface="Calibri" pitchFamily="34" charset="-122"/>
                <a:cs typeface="Calibri" pitchFamily="34" charset="-120"/>
              </a:rPr>
              <a:t>Similar Texture</a:t>
            </a:r>
            <a:endParaRPr lang="en-US" sz="1200" dirty="0"/>
          </a:p>
        </p:txBody>
      </p:sp>
      <p:sp>
        <p:nvSpPr>
          <p:cNvPr id="8" name="Text 5"/>
          <p:cNvSpPr/>
          <p:nvPr/>
        </p:nvSpPr>
        <p:spPr>
          <a:xfrm>
            <a:off x="411480" y="4023360"/>
            <a:ext cx="2560320" cy="822960"/>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Fresh &amp; rotten share surface texture under certain conditions</a:t>
            </a:r>
            <a:endParaRPr lang="en-US" sz="1100" dirty="0"/>
          </a:p>
        </p:txBody>
      </p:sp>
      <p:sp>
        <p:nvSpPr>
          <p:cNvPr id="9" name="Shape 6"/>
          <p:cNvSpPr/>
          <p:nvPr/>
        </p:nvSpPr>
        <p:spPr>
          <a:xfrm>
            <a:off x="3246120" y="3611880"/>
            <a:ext cx="2743200" cy="1371600"/>
          </a:xfrm>
          <a:prstGeom prst="roundRect">
            <a:avLst>
              <a:gd name="adj" fmla="val 6667"/>
            </a:avLst>
          </a:prstGeom>
          <a:solidFill>
            <a:srgbClr val="FFF3E0"/>
          </a:solidFill>
          <a:ln w="12700">
            <a:solidFill>
              <a:srgbClr val="F5A623"/>
            </a:solidFill>
            <a:prstDash val="solid"/>
          </a:ln>
        </p:spPr>
      </p:sp>
      <p:sp>
        <p:nvSpPr>
          <p:cNvPr id="10" name="Text 7"/>
          <p:cNvSpPr/>
          <p:nvPr/>
        </p:nvSpPr>
        <p:spPr>
          <a:xfrm>
            <a:off x="3337560" y="3657600"/>
            <a:ext cx="2560320" cy="365760"/>
          </a:xfrm>
          <a:prstGeom prst="rect">
            <a:avLst/>
          </a:prstGeom>
          <a:noFill/>
          <a:ln/>
        </p:spPr>
        <p:txBody>
          <a:bodyPr wrap="square" rtlCol="0" anchor="ctr"/>
          <a:lstStyle/>
          <a:p>
            <a:pPr indent="0" marL="0">
              <a:buNone/>
            </a:pPr>
            <a:r>
              <a:rPr lang="en-US" sz="1200" b="1" dirty="0">
                <a:solidFill>
                  <a:srgbClr val="1B3A2D"/>
                </a:solidFill>
                <a:latin typeface="Calibri" pitchFamily="34" charset="0"/>
                <a:ea typeface="Calibri" pitchFamily="34" charset="-122"/>
                <a:cs typeface="Calibri" pitchFamily="34" charset="-120"/>
              </a:rPr>
              <a:t>Lighting</a:t>
            </a:r>
            <a:endParaRPr lang="en-US" sz="1200" dirty="0"/>
          </a:p>
        </p:txBody>
      </p:sp>
      <p:sp>
        <p:nvSpPr>
          <p:cNvPr id="11" name="Text 8"/>
          <p:cNvSpPr/>
          <p:nvPr/>
        </p:nvSpPr>
        <p:spPr>
          <a:xfrm>
            <a:off x="3337560" y="4023360"/>
            <a:ext cx="2560320" cy="822960"/>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Shadows and reflections mislead the model</a:t>
            </a:r>
            <a:endParaRPr lang="en-US" sz="1100" dirty="0"/>
          </a:p>
        </p:txBody>
      </p:sp>
      <p:sp>
        <p:nvSpPr>
          <p:cNvPr id="12" name="Shape 9"/>
          <p:cNvSpPr/>
          <p:nvPr/>
        </p:nvSpPr>
        <p:spPr>
          <a:xfrm>
            <a:off x="6172200" y="3611880"/>
            <a:ext cx="2743200" cy="1371600"/>
          </a:xfrm>
          <a:prstGeom prst="roundRect">
            <a:avLst>
              <a:gd name="adj" fmla="val 6667"/>
            </a:avLst>
          </a:prstGeom>
          <a:solidFill>
            <a:srgbClr val="FFF3E0"/>
          </a:solidFill>
          <a:ln w="12700">
            <a:solidFill>
              <a:srgbClr val="F5A623"/>
            </a:solidFill>
            <a:prstDash val="solid"/>
          </a:ln>
        </p:spPr>
      </p:sp>
      <p:sp>
        <p:nvSpPr>
          <p:cNvPr id="13" name="Text 10"/>
          <p:cNvSpPr/>
          <p:nvPr/>
        </p:nvSpPr>
        <p:spPr>
          <a:xfrm>
            <a:off x="6263640" y="3657600"/>
            <a:ext cx="2560320" cy="365760"/>
          </a:xfrm>
          <a:prstGeom prst="rect">
            <a:avLst/>
          </a:prstGeom>
          <a:noFill/>
          <a:ln/>
        </p:spPr>
        <p:txBody>
          <a:bodyPr wrap="square" rtlCol="0" anchor="ctr"/>
          <a:lstStyle/>
          <a:p>
            <a:pPr indent="0" marL="0">
              <a:buNone/>
            </a:pPr>
            <a:r>
              <a:rPr lang="en-US" sz="1200" b="1" dirty="0">
                <a:solidFill>
                  <a:srgbClr val="1B3A2D"/>
                </a:solidFill>
                <a:latin typeface="Calibri" pitchFamily="34" charset="0"/>
                <a:ea typeface="Calibri" pitchFamily="34" charset="-122"/>
                <a:cs typeface="Calibri" pitchFamily="34" charset="-120"/>
              </a:rPr>
              <a:t>Color Overlap</a:t>
            </a:r>
            <a:endParaRPr lang="en-US" sz="1200" dirty="0"/>
          </a:p>
        </p:txBody>
      </p:sp>
      <p:sp>
        <p:nvSpPr>
          <p:cNvPr id="14" name="Text 11"/>
          <p:cNvSpPr/>
          <p:nvPr/>
        </p:nvSpPr>
        <p:spPr>
          <a:xfrm>
            <a:off x="6263640" y="4023360"/>
            <a:ext cx="2560320" cy="822960"/>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Some rotten fruits retain fresh-like coloration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ROC Curves — CNN Per-Class Performance</a:t>
            </a:r>
            <a:endParaRPr lang="en-US" sz="2000" dirty="0"/>
          </a:p>
        </p:txBody>
      </p:sp>
      <p:sp>
        <p:nvSpPr>
          <p:cNvPr id="4" name="Text 2"/>
          <p:cNvSpPr/>
          <p:nvPr/>
        </p:nvSpPr>
        <p:spPr>
          <a:xfrm>
            <a:off x="320040" y="685800"/>
            <a:ext cx="8503920" cy="411480"/>
          </a:xfrm>
          <a:prstGeom prst="rect">
            <a:avLst/>
          </a:prstGeom>
          <a:noFill/>
          <a:ln/>
        </p:spPr>
        <p:txBody>
          <a:bodyPr wrap="square" rtlCol="0" anchor="ctr"/>
          <a:lstStyle/>
          <a:p>
            <a:pPr indent="0" marL="0">
              <a:buNone/>
            </a:pPr>
            <a:r>
              <a:rPr lang="en-US" sz="1200" i="1" dirty="0">
                <a:solidFill>
                  <a:srgbClr val="3A5A47"/>
                </a:solidFill>
                <a:latin typeface="Calibri" pitchFamily="34" charset="0"/>
                <a:ea typeface="Calibri" pitchFamily="34" charset="-122"/>
                <a:cs typeface="Calibri" pitchFamily="34" charset="-120"/>
              </a:rPr>
              <a:t>Area Under Curve (AUC) measures per-class discrimination ability. Values close to 1.0 indicate excellent classification.</a:t>
            </a:r>
            <a:endParaRPr lang="en-US" sz="1200" dirty="0"/>
          </a:p>
        </p:txBody>
      </p:sp>
      <p:pic>
        <p:nvPicPr>
          <p:cNvPr id="5" name="Image 0" descr="preencoded.png">    </p:cNvPr>
          <p:cNvPicPr>
            <a:picLocks noChangeAspect="1"/>
          </p:cNvPicPr>
          <p:nvPr/>
        </p:nvPicPr>
        <p:blipFill>
          <a:blip r:embed="rId1"/>
          <a:srcRect l="0" r="0" t="0" b="0"/>
          <a:stretch/>
        </p:blipFill>
        <p:spPr>
          <a:xfrm>
            <a:off x="731520" y="1143000"/>
            <a:ext cx="7680960" cy="3657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Limitations</a:t>
            </a:r>
            <a:endParaRPr lang="en-US" sz="2000" dirty="0"/>
          </a:p>
        </p:txBody>
      </p:sp>
      <p:sp>
        <p:nvSpPr>
          <p:cNvPr id="4" name="Shape 2"/>
          <p:cNvSpPr/>
          <p:nvPr/>
        </p:nvSpPr>
        <p:spPr>
          <a:xfrm>
            <a:off x="320040" y="822960"/>
            <a:ext cx="4114800" cy="1188720"/>
          </a:xfrm>
          <a:prstGeom prst="roundRect">
            <a:avLst>
              <a:gd name="adj" fmla="val 7692"/>
            </a:avLst>
          </a:prstGeom>
          <a:solidFill>
            <a:srgbClr val="FFFFFF"/>
          </a:solidFill>
          <a:ln w="12700">
            <a:solidFill>
              <a:srgbClr val="E8F0EC"/>
            </a:solidFill>
            <a:prstDash val="solid"/>
          </a:ln>
          <a:effectLst>
            <a:outerShdw sx="100000" sy="100000" kx="0" ky="0" algn="bl" rotWithShape="0" blurRad="63500" dist="12700" dir="2700000">
              <a:srgbClr val="000000">
                <a:alpha val="7000"/>
              </a:srgbClr>
            </a:outerShdw>
          </a:effectLst>
        </p:spPr>
      </p:sp>
      <p:sp>
        <p:nvSpPr>
          <p:cNvPr id="5" name="Shape 3"/>
          <p:cNvSpPr/>
          <p:nvPr/>
        </p:nvSpPr>
        <p:spPr>
          <a:xfrm>
            <a:off x="320040" y="822960"/>
            <a:ext cx="502920" cy="1188720"/>
          </a:xfrm>
          <a:prstGeom prst="roundRect">
            <a:avLst>
              <a:gd name="adj" fmla="val 18182"/>
            </a:avLst>
          </a:prstGeom>
          <a:solidFill>
            <a:srgbClr val="F5A623">
              <a:alpha val="90000"/>
            </a:srgbClr>
          </a:solidFill>
          <a:ln w="12700">
            <a:solidFill>
              <a:srgbClr val="F5A623"/>
            </a:solidFill>
            <a:prstDash val="solid"/>
          </a:ln>
        </p:spPr>
      </p:sp>
      <p:sp>
        <p:nvSpPr>
          <p:cNvPr id="6" name="Text 4"/>
          <p:cNvSpPr/>
          <p:nvPr/>
        </p:nvSpPr>
        <p:spPr>
          <a:xfrm>
            <a:off x="320040" y="822960"/>
            <a:ext cx="502920" cy="1188720"/>
          </a:xfrm>
          <a:prstGeom prst="rect">
            <a:avLst/>
          </a:prstGeom>
          <a:noFill/>
          <a:ln/>
        </p:spPr>
        <p:txBody>
          <a:bodyPr wrap="square" rtlCol="0" anchor="ctr"/>
          <a:lstStyle/>
          <a:p>
            <a:pPr algn="ctr" indent="0" marL="0">
              <a:buNone/>
            </a:pPr>
            <a:r>
              <a:rPr lang="en-US" sz="1400" b="1" dirty="0">
                <a:solidFill>
                  <a:srgbClr val="1B3A2D"/>
                </a:solidFill>
                <a:latin typeface="Cambria" pitchFamily="34" charset="0"/>
                <a:ea typeface="Cambria" pitchFamily="34" charset="-122"/>
                <a:cs typeface="Cambria" pitchFamily="34" charset="-120"/>
              </a:rPr>
              <a:t>01</a:t>
            </a:r>
            <a:endParaRPr lang="en-US" sz="1400" dirty="0"/>
          </a:p>
        </p:txBody>
      </p:sp>
      <p:sp>
        <p:nvSpPr>
          <p:cNvPr id="7" name="Text 5"/>
          <p:cNvSpPr/>
          <p:nvPr/>
        </p:nvSpPr>
        <p:spPr>
          <a:xfrm>
            <a:off x="868680" y="896112"/>
            <a:ext cx="3474720" cy="384048"/>
          </a:xfrm>
          <a:prstGeom prst="rect">
            <a:avLst/>
          </a:prstGeom>
          <a:noFill/>
          <a:ln/>
        </p:spPr>
        <p:txBody>
          <a:bodyPr wrap="square" rtlCol="0" anchor="ctr"/>
          <a:lstStyle/>
          <a:p>
            <a:pPr indent="0" marL="0">
              <a:buNone/>
            </a:pPr>
            <a:r>
              <a:rPr lang="en-US" sz="1300" b="1" dirty="0">
                <a:solidFill>
                  <a:srgbClr val="1B3A2D"/>
                </a:solidFill>
                <a:latin typeface="Calibri" pitchFamily="34" charset="0"/>
                <a:ea typeface="Calibri" pitchFamily="34" charset="-122"/>
                <a:cs typeface="Calibri" pitchFamily="34" charset="-120"/>
              </a:rPr>
              <a:t>Limited Fruit Variety</a:t>
            </a:r>
            <a:endParaRPr lang="en-US" sz="1300" dirty="0"/>
          </a:p>
        </p:txBody>
      </p:sp>
      <p:sp>
        <p:nvSpPr>
          <p:cNvPr id="8" name="Text 6"/>
          <p:cNvSpPr/>
          <p:nvPr/>
        </p:nvSpPr>
        <p:spPr>
          <a:xfrm>
            <a:off x="868680" y="1280160"/>
            <a:ext cx="3474720" cy="658368"/>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Dataset covers only apples, bananas, and oranges. Real deployments require more categories.</a:t>
            </a:r>
            <a:endParaRPr lang="en-US" sz="1100" dirty="0"/>
          </a:p>
        </p:txBody>
      </p:sp>
      <p:sp>
        <p:nvSpPr>
          <p:cNvPr id="9" name="Shape 7"/>
          <p:cNvSpPr/>
          <p:nvPr/>
        </p:nvSpPr>
        <p:spPr>
          <a:xfrm>
            <a:off x="320040" y="2176272"/>
            <a:ext cx="4114800" cy="1188720"/>
          </a:xfrm>
          <a:prstGeom prst="roundRect">
            <a:avLst>
              <a:gd name="adj" fmla="val 7692"/>
            </a:avLst>
          </a:prstGeom>
          <a:solidFill>
            <a:srgbClr val="FFFFFF"/>
          </a:solidFill>
          <a:ln w="12700">
            <a:solidFill>
              <a:srgbClr val="E8F0EC"/>
            </a:solidFill>
            <a:prstDash val="solid"/>
          </a:ln>
          <a:effectLst>
            <a:outerShdw sx="100000" sy="100000" kx="0" ky="0" algn="bl" rotWithShape="0" blurRad="63500" dist="12700" dir="2700000">
              <a:srgbClr val="000000">
                <a:alpha val="7000"/>
              </a:srgbClr>
            </a:outerShdw>
          </a:effectLst>
        </p:spPr>
      </p:sp>
      <p:sp>
        <p:nvSpPr>
          <p:cNvPr id="10" name="Shape 8"/>
          <p:cNvSpPr/>
          <p:nvPr/>
        </p:nvSpPr>
        <p:spPr>
          <a:xfrm>
            <a:off x="320040" y="2176272"/>
            <a:ext cx="502920" cy="1188720"/>
          </a:xfrm>
          <a:prstGeom prst="roundRect">
            <a:avLst>
              <a:gd name="adj" fmla="val 18182"/>
            </a:avLst>
          </a:prstGeom>
          <a:solidFill>
            <a:srgbClr val="F5A623">
              <a:alpha val="90000"/>
            </a:srgbClr>
          </a:solidFill>
          <a:ln w="12700">
            <a:solidFill>
              <a:srgbClr val="F5A623"/>
            </a:solidFill>
            <a:prstDash val="solid"/>
          </a:ln>
        </p:spPr>
      </p:sp>
      <p:sp>
        <p:nvSpPr>
          <p:cNvPr id="11" name="Text 9"/>
          <p:cNvSpPr/>
          <p:nvPr/>
        </p:nvSpPr>
        <p:spPr>
          <a:xfrm>
            <a:off x="320040" y="2176272"/>
            <a:ext cx="502920" cy="1188720"/>
          </a:xfrm>
          <a:prstGeom prst="rect">
            <a:avLst/>
          </a:prstGeom>
          <a:noFill/>
          <a:ln/>
        </p:spPr>
        <p:txBody>
          <a:bodyPr wrap="square" rtlCol="0" anchor="ctr"/>
          <a:lstStyle/>
          <a:p>
            <a:pPr algn="ctr" indent="0" marL="0">
              <a:buNone/>
            </a:pPr>
            <a:r>
              <a:rPr lang="en-US" sz="1400" b="1" dirty="0">
                <a:solidFill>
                  <a:srgbClr val="1B3A2D"/>
                </a:solidFill>
                <a:latin typeface="Cambria" pitchFamily="34" charset="0"/>
                <a:ea typeface="Cambria" pitchFamily="34" charset="-122"/>
                <a:cs typeface="Cambria" pitchFamily="34" charset="-120"/>
              </a:rPr>
              <a:t>02</a:t>
            </a:r>
            <a:endParaRPr lang="en-US" sz="1400" dirty="0"/>
          </a:p>
        </p:txBody>
      </p:sp>
      <p:sp>
        <p:nvSpPr>
          <p:cNvPr id="12" name="Text 10"/>
          <p:cNvSpPr/>
          <p:nvPr/>
        </p:nvSpPr>
        <p:spPr>
          <a:xfrm>
            <a:off x="868680" y="2249424"/>
            <a:ext cx="3474720" cy="384048"/>
          </a:xfrm>
          <a:prstGeom prst="rect">
            <a:avLst/>
          </a:prstGeom>
          <a:noFill/>
          <a:ln/>
        </p:spPr>
        <p:txBody>
          <a:bodyPr wrap="square" rtlCol="0" anchor="ctr"/>
          <a:lstStyle/>
          <a:p>
            <a:pPr indent="0" marL="0">
              <a:buNone/>
            </a:pPr>
            <a:r>
              <a:rPr lang="en-US" sz="1300" b="1" dirty="0">
                <a:solidFill>
                  <a:srgbClr val="1B3A2D"/>
                </a:solidFill>
                <a:latin typeface="Calibri" pitchFamily="34" charset="0"/>
                <a:ea typeface="Calibri" pitchFamily="34" charset="-122"/>
                <a:cs typeface="Calibri" pitchFamily="34" charset="-120"/>
              </a:rPr>
              <a:t>Controlled Conditions</a:t>
            </a:r>
            <a:endParaRPr lang="en-US" sz="1300" dirty="0"/>
          </a:p>
        </p:txBody>
      </p:sp>
      <p:sp>
        <p:nvSpPr>
          <p:cNvPr id="13" name="Text 11"/>
          <p:cNvSpPr/>
          <p:nvPr/>
        </p:nvSpPr>
        <p:spPr>
          <a:xfrm>
            <a:off x="868680" y="2633472"/>
            <a:ext cx="3474720" cy="658368"/>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Images captured under laboratory-like lighting; real-world performance may vary.</a:t>
            </a:r>
            <a:endParaRPr lang="en-US" sz="1100" dirty="0"/>
          </a:p>
        </p:txBody>
      </p:sp>
      <p:sp>
        <p:nvSpPr>
          <p:cNvPr id="14" name="Shape 12"/>
          <p:cNvSpPr/>
          <p:nvPr/>
        </p:nvSpPr>
        <p:spPr>
          <a:xfrm>
            <a:off x="320040" y="3529584"/>
            <a:ext cx="4114800" cy="1188720"/>
          </a:xfrm>
          <a:prstGeom prst="roundRect">
            <a:avLst>
              <a:gd name="adj" fmla="val 7692"/>
            </a:avLst>
          </a:prstGeom>
          <a:solidFill>
            <a:srgbClr val="FFFFFF"/>
          </a:solidFill>
          <a:ln w="12700">
            <a:solidFill>
              <a:srgbClr val="E8F0EC"/>
            </a:solidFill>
            <a:prstDash val="solid"/>
          </a:ln>
          <a:effectLst>
            <a:outerShdw sx="100000" sy="100000" kx="0" ky="0" algn="bl" rotWithShape="0" blurRad="63500" dist="12700" dir="2700000">
              <a:srgbClr val="000000">
                <a:alpha val="7000"/>
              </a:srgbClr>
            </a:outerShdw>
          </a:effectLst>
        </p:spPr>
      </p:sp>
      <p:sp>
        <p:nvSpPr>
          <p:cNvPr id="15" name="Shape 13"/>
          <p:cNvSpPr/>
          <p:nvPr/>
        </p:nvSpPr>
        <p:spPr>
          <a:xfrm>
            <a:off x="320040" y="3529584"/>
            <a:ext cx="502920" cy="1188720"/>
          </a:xfrm>
          <a:prstGeom prst="roundRect">
            <a:avLst>
              <a:gd name="adj" fmla="val 18182"/>
            </a:avLst>
          </a:prstGeom>
          <a:solidFill>
            <a:srgbClr val="F5A623">
              <a:alpha val="90000"/>
            </a:srgbClr>
          </a:solidFill>
          <a:ln w="12700">
            <a:solidFill>
              <a:srgbClr val="F5A623"/>
            </a:solidFill>
            <a:prstDash val="solid"/>
          </a:ln>
        </p:spPr>
      </p:sp>
      <p:sp>
        <p:nvSpPr>
          <p:cNvPr id="16" name="Text 14"/>
          <p:cNvSpPr/>
          <p:nvPr/>
        </p:nvSpPr>
        <p:spPr>
          <a:xfrm>
            <a:off x="320040" y="3529584"/>
            <a:ext cx="502920" cy="1188720"/>
          </a:xfrm>
          <a:prstGeom prst="rect">
            <a:avLst/>
          </a:prstGeom>
          <a:noFill/>
          <a:ln/>
        </p:spPr>
        <p:txBody>
          <a:bodyPr wrap="square" rtlCol="0" anchor="ctr"/>
          <a:lstStyle/>
          <a:p>
            <a:pPr algn="ctr" indent="0" marL="0">
              <a:buNone/>
            </a:pPr>
            <a:r>
              <a:rPr lang="en-US" sz="1400" b="1" dirty="0">
                <a:solidFill>
                  <a:srgbClr val="1B3A2D"/>
                </a:solidFill>
                <a:latin typeface="Cambria" pitchFamily="34" charset="0"/>
                <a:ea typeface="Cambria" pitchFamily="34" charset="-122"/>
                <a:cs typeface="Cambria" pitchFamily="34" charset="-120"/>
              </a:rPr>
              <a:t>03</a:t>
            </a:r>
            <a:endParaRPr lang="en-US" sz="1400" dirty="0"/>
          </a:p>
        </p:txBody>
      </p:sp>
      <p:sp>
        <p:nvSpPr>
          <p:cNvPr id="17" name="Text 15"/>
          <p:cNvSpPr/>
          <p:nvPr/>
        </p:nvSpPr>
        <p:spPr>
          <a:xfrm>
            <a:off x="868680" y="3602736"/>
            <a:ext cx="3474720" cy="384048"/>
          </a:xfrm>
          <a:prstGeom prst="rect">
            <a:avLst/>
          </a:prstGeom>
          <a:noFill/>
          <a:ln/>
        </p:spPr>
        <p:txBody>
          <a:bodyPr wrap="square" rtlCol="0" anchor="ctr"/>
          <a:lstStyle/>
          <a:p>
            <a:pPr indent="0" marL="0">
              <a:buNone/>
            </a:pPr>
            <a:r>
              <a:rPr lang="en-US" sz="1300" b="1" dirty="0">
                <a:solidFill>
                  <a:srgbClr val="1B3A2D"/>
                </a:solidFill>
                <a:latin typeface="Calibri" pitchFamily="34" charset="0"/>
                <a:ea typeface="Calibri" pitchFamily="34" charset="-122"/>
                <a:cs typeface="Calibri" pitchFamily="34" charset="-120"/>
              </a:rPr>
              <a:t>Dataset Size</a:t>
            </a:r>
            <a:endParaRPr lang="en-US" sz="1300" dirty="0"/>
          </a:p>
        </p:txBody>
      </p:sp>
      <p:sp>
        <p:nvSpPr>
          <p:cNvPr id="18" name="Text 16"/>
          <p:cNvSpPr/>
          <p:nvPr/>
        </p:nvSpPr>
        <p:spPr>
          <a:xfrm>
            <a:off x="868680" y="3986784"/>
            <a:ext cx="3474720" cy="658368"/>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~13,599 images may be insufficient for highly diverse real-world scenarios.</a:t>
            </a:r>
            <a:endParaRPr lang="en-US" sz="1100" dirty="0"/>
          </a:p>
        </p:txBody>
      </p:sp>
      <p:sp>
        <p:nvSpPr>
          <p:cNvPr id="19" name="Shape 17"/>
          <p:cNvSpPr/>
          <p:nvPr/>
        </p:nvSpPr>
        <p:spPr>
          <a:xfrm>
            <a:off x="4754880" y="822960"/>
            <a:ext cx="4114800" cy="1188720"/>
          </a:xfrm>
          <a:prstGeom prst="roundRect">
            <a:avLst>
              <a:gd name="adj" fmla="val 7692"/>
            </a:avLst>
          </a:prstGeom>
          <a:solidFill>
            <a:srgbClr val="FFFFFF"/>
          </a:solidFill>
          <a:ln w="12700">
            <a:solidFill>
              <a:srgbClr val="E8F0EC"/>
            </a:solidFill>
            <a:prstDash val="solid"/>
          </a:ln>
          <a:effectLst>
            <a:outerShdw sx="100000" sy="100000" kx="0" ky="0" algn="bl" rotWithShape="0" blurRad="63500" dist="12700" dir="2700000">
              <a:srgbClr val="000000">
                <a:alpha val="7000"/>
              </a:srgbClr>
            </a:outerShdw>
          </a:effectLst>
        </p:spPr>
      </p:sp>
      <p:sp>
        <p:nvSpPr>
          <p:cNvPr id="20" name="Shape 18"/>
          <p:cNvSpPr/>
          <p:nvPr/>
        </p:nvSpPr>
        <p:spPr>
          <a:xfrm>
            <a:off x="4754880" y="822960"/>
            <a:ext cx="502920" cy="1188720"/>
          </a:xfrm>
          <a:prstGeom prst="roundRect">
            <a:avLst>
              <a:gd name="adj" fmla="val 18182"/>
            </a:avLst>
          </a:prstGeom>
          <a:solidFill>
            <a:srgbClr val="F5A623">
              <a:alpha val="90000"/>
            </a:srgbClr>
          </a:solidFill>
          <a:ln w="12700">
            <a:solidFill>
              <a:srgbClr val="F5A623"/>
            </a:solidFill>
            <a:prstDash val="solid"/>
          </a:ln>
        </p:spPr>
      </p:sp>
      <p:sp>
        <p:nvSpPr>
          <p:cNvPr id="21" name="Text 19"/>
          <p:cNvSpPr/>
          <p:nvPr/>
        </p:nvSpPr>
        <p:spPr>
          <a:xfrm>
            <a:off x="4754880" y="822960"/>
            <a:ext cx="502920" cy="1188720"/>
          </a:xfrm>
          <a:prstGeom prst="rect">
            <a:avLst/>
          </a:prstGeom>
          <a:noFill/>
          <a:ln/>
        </p:spPr>
        <p:txBody>
          <a:bodyPr wrap="square" rtlCol="0" anchor="ctr"/>
          <a:lstStyle/>
          <a:p>
            <a:pPr algn="ctr" indent="0" marL="0">
              <a:buNone/>
            </a:pPr>
            <a:r>
              <a:rPr lang="en-US" sz="1400" b="1" dirty="0">
                <a:solidFill>
                  <a:srgbClr val="1B3A2D"/>
                </a:solidFill>
                <a:latin typeface="Cambria" pitchFamily="34" charset="0"/>
                <a:ea typeface="Cambria" pitchFamily="34" charset="-122"/>
                <a:cs typeface="Cambria" pitchFamily="34" charset="-120"/>
              </a:rPr>
              <a:t>04</a:t>
            </a:r>
            <a:endParaRPr lang="en-US" sz="1400" dirty="0"/>
          </a:p>
        </p:txBody>
      </p:sp>
      <p:sp>
        <p:nvSpPr>
          <p:cNvPr id="22" name="Text 20"/>
          <p:cNvSpPr/>
          <p:nvPr/>
        </p:nvSpPr>
        <p:spPr>
          <a:xfrm>
            <a:off x="5303520" y="896112"/>
            <a:ext cx="3474720" cy="384048"/>
          </a:xfrm>
          <a:prstGeom prst="rect">
            <a:avLst/>
          </a:prstGeom>
          <a:noFill/>
          <a:ln/>
        </p:spPr>
        <p:txBody>
          <a:bodyPr wrap="square" rtlCol="0" anchor="ctr"/>
          <a:lstStyle/>
          <a:p>
            <a:pPr indent="0" marL="0">
              <a:buNone/>
            </a:pPr>
            <a:r>
              <a:rPr lang="en-US" sz="1300" b="1" dirty="0">
                <a:solidFill>
                  <a:srgbClr val="1B3A2D"/>
                </a:solidFill>
                <a:latin typeface="Calibri" pitchFamily="34" charset="0"/>
                <a:ea typeface="Calibri" pitchFamily="34" charset="-122"/>
                <a:cs typeface="Calibri" pitchFamily="34" charset="-120"/>
              </a:rPr>
              <a:t>Visual Similarity</a:t>
            </a:r>
            <a:endParaRPr lang="en-US" sz="1300" dirty="0"/>
          </a:p>
        </p:txBody>
      </p:sp>
      <p:sp>
        <p:nvSpPr>
          <p:cNvPr id="23" name="Text 21"/>
          <p:cNvSpPr/>
          <p:nvPr/>
        </p:nvSpPr>
        <p:spPr>
          <a:xfrm>
            <a:off x="5303520" y="1280160"/>
            <a:ext cx="3474720" cy="658368"/>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Fresh and rotten fruits can look alike, making border cases inherently difficult.</a:t>
            </a:r>
            <a:endParaRPr lang="en-US" sz="1100" dirty="0"/>
          </a:p>
        </p:txBody>
      </p:sp>
      <p:sp>
        <p:nvSpPr>
          <p:cNvPr id="24" name="Shape 22"/>
          <p:cNvSpPr/>
          <p:nvPr/>
        </p:nvSpPr>
        <p:spPr>
          <a:xfrm>
            <a:off x="4754880" y="2176272"/>
            <a:ext cx="4114800" cy="1188720"/>
          </a:xfrm>
          <a:prstGeom prst="roundRect">
            <a:avLst>
              <a:gd name="adj" fmla="val 7692"/>
            </a:avLst>
          </a:prstGeom>
          <a:solidFill>
            <a:srgbClr val="FFFFFF"/>
          </a:solidFill>
          <a:ln w="12700">
            <a:solidFill>
              <a:srgbClr val="E8F0EC"/>
            </a:solidFill>
            <a:prstDash val="solid"/>
          </a:ln>
          <a:effectLst>
            <a:outerShdw sx="100000" sy="100000" kx="0" ky="0" algn="bl" rotWithShape="0" blurRad="63500" dist="12700" dir="2700000">
              <a:srgbClr val="000000">
                <a:alpha val="7000"/>
              </a:srgbClr>
            </a:outerShdw>
          </a:effectLst>
        </p:spPr>
      </p:sp>
      <p:sp>
        <p:nvSpPr>
          <p:cNvPr id="25" name="Shape 23"/>
          <p:cNvSpPr/>
          <p:nvPr/>
        </p:nvSpPr>
        <p:spPr>
          <a:xfrm>
            <a:off x="4754880" y="2176272"/>
            <a:ext cx="502920" cy="1188720"/>
          </a:xfrm>
          <a:prstGeom prst="roundRect">
            <a:avLst>
              <a:gd name="adj" fmla="val 18182"/>
            </a:avLst>
          </a:prstGeom>
          <a:solidFill>
            <a:srgbClr val="F5A623">
              <a:alpha val="90000"/>
            </a:srgbClr>
          </a:solidFill>
          <a:ln w="12700">
            <a:solidFill>
              <a:srgbClr val="F5A623"/>
            </a:solidFill>
            <a:prstDash val="solid"/>
          </a:ln>
        </p:spPr>
      </p:sp>
      <p:sp>
        <p:nvSpPr>
          <p:cNvPr id="26" name="Text 24"/>
          <p:cNvSpPr/>
          <p:nvPr/>
        </p:nvSpPr>
        <p:spPr>
          <a:xfrm>
            <a:off x="4754880" y="2176272"/>
            <a:ext cx="502920" cy="1188720"/>
          </a:xfrm>
          <a:prstGeom prst="rect">
            <a:avLst/>
          </a:prstGeom>
          <a:noFill/>
          <a:ln/>
        </p:spPr>
        <p:txBody>
          <a:bodyPr wrap="square" rtlCol="0" anchor="ctr"/>
          <a:lstStyle/>
          <a:p>
            <a:pPr algn="ctr" indent="0" marL="0">
              <a:buNone/>
            </a:pPr>
            <a:r>
              <a:rPr lang="en-US" sz="1400" b="1" dirty="0">
                <a:solidFill>
                  <a:srgbClr val="1B3A2D"/>
                </a:solidFill>
                <a:latin typeface="Cambria" pitchFamily="34" charset="0"/>
                <a:ea typeface="Cambria" pitchFamily="34" charset="-122"/>
                <a:cs typeface="Cambria" pitchFamily="34" charset="-120"/>
              </a:rPr>
              <a:t>05</a:t>
            </a:r>
            <a:endParaRPr lang="en-US" sz="1400" dirty="0"/>
          </a:p>
        </p:txBody>
      </p:sp>
      <p:sp>
        <p:nvSpPr>
          <p:cNvPr id="27" name="Text 25"/>
          <p:cNvSpPr/>
          <p:nvPr/>
        </p:nvSpPr>
        <p:spPr>
          <a:xfrm>
            <a:off x="5303520" y="2249424"/>
            <a:ext cx="3474720" cy="384048"/>
          </a:xfrm>
          <a:prstGeom prst="rect">
            <a:avLst/>
          </a:prstGeom>
          <a:noFill/>
          <a:ln/>
        </p:spPr>
        <p:txBody>
          <a:bodyPr wrap="square" rtlCol="0" anchor="ctr"/>
          <a:lstStyle/>
          <a:p>
            <a:pPr indent="0" marL="0">
              <a:buNone/>
            </a:pPr>
            <a:r>
              <a:rPr lang="en-US" sz="1300" b="1" dirty="0">
                <a:solidFill>
                  <a:srgbClr val="1B3A2D"/>
                </a:solidFill>
                <a:latin typeface="Calibri" pitchFamily="34" charset="0"/>
                <a:ea typeface="Calibri" pitchFamily="34" charset="-122"/>
                <a:cs typeface="Calibri" pitchFamily="34" charset="-120"/>
              </a:rPr>
              <a:t>Deployment Gap</a:t>
            </a:r>
            <a:endParaRPr lang="en-US" sz="1300" dirty="0"/>
          </a:p>
        </p:txBody>
      </p:sp>
      <p:sp>
        <p:nvSpPr>
          <p:cNvPr id="28" name="Text 26"/>
          <p:cNvSpPr/>
          <p:nvPr/>
        </p:nvSpPr>
        <p:spPr>
          <a:xfrm>
            <a:off x="5303520" y="2633472"/>
            <a:ext cx="3474720" cy="658368"/>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Models have not been validated on edge devices or in real-time webcam settings.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6858000" y="-1097280"/>
            <a:ext cx="3657600" cy="3657600"/>
          </a:xfrm>
          <a:prstGeom prst="ellipse">
            <a:avLst/>
          </a:prstGeom>
          <a:solidFill>
            <a:srgbClr val="2E6B4F">
              <a:alpha val="40000"/>
            </a:srgbClr>
          </a:solidFill>
          <a:ln w="12700">
            <a:solidFill>
              <a:srgbClr val="2E6B4F">
                <a:alpha val="40000"/>
              </a:srgbClr>
            </a:solidFill>
            <a:prstDash val="solid"/>
          </a:ln>
        </p:spPr>
      </p:sp>
      <p:sp>
        <p:nvSpPr>
          <p:cNvPr id="3" name="Shape 1"/>
          <p:cNvSpPr/>
          <p:nvPr/>
        </p:nvSpPr>
        <p:spPr>
          <a:xfrm>
            <a:off x="7498080" y="-365760"/>
            <a:ext cx="2286000" cy="2286000"/>
          </a:xfrm>
          <a:prstGeom prst="ellipse">
            <a:avLst/>
          </a:prstGeom>
          <a:solidFill>
            <a:srgbClr val="4CAF7D">
              <a:alpha val="30000"/>
            </a:srgbClr>
          </a:solidFill>
          <a:ln w="12700">
            <a:solidFill>
              <a:srgbClr val="4CAF7D">
                <a:alpha val="30000"/>
              </a:srgbClr>
            </a:solidFill>
            <a:prstDash val="solid"/>
          </a:ln>
        </p:spPr>
      </p:sp>
      <p:sp>
        <p:nvSpPr>
          <p:cNvPr id="4" name="Text 2"/>
          <p:cNvSpPr/>
          <p:nvPr/>
        </p:nvSpPr>
        <p:spPr>
          <a:xfrm>
            <a:off x="457200" y="365760"/>
            <a:ext cx="8229600" cy="64008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5" name="Shape 3"/>
          <p:cNvSpPr/>
          <p:nvPr/>
        </p:nvSpPr>
        <p:spPr>
          <a:xfrm>
            <a:off x="457200" y="1143000"/>
            <a:ext cx="8229600" cy="658368"/>
          </a:xfrm>
          <a:prstGeom prst="roundRect">
            <a:avLst>
              <a:gd name="adj" fmla="val 11111"/>
            </a:avLst>
          </a:prstGeom>
          <a:solidFill>
            <a:srgbClr val="2E6B4F">
              <a:alpha val="50000"/>
            </a:srgbClr>
          </a:solidFill>
          <a:ln w="12700">
            <a:solidFill>
              <a:srgbClr val="4CAF7D">
                <a:alpha val="30000"/>
              </a:srgbClr>
            </a:solidFill>
            <a:prstDash val="solid"/>
          </a:ln>
        </p:spPr>
      </p:sp>
      <p:sp>
        <p:nvSpPr>
          <p:cNvPr id="6" name="Shape 4"/>
          <p:cNvSpPr/>
          <p:nvPr/>
        </p:nvSpPr>
        <p:spPr>
          <a:xfrm>
            <a:off x="548640" y="1207008"/>
            <a:ext cx="402336" cy="402336"/>
          </a:xfrm>
          <a:prstGeom prst="ellipse">
            <a:avLst/>
          </a:prstGeom>
          <a:solidFill>
            <a:srgbClr val="F5A623"/>
          </a:solidFill>
          <a:ln w="12700">
            <a:solidFill>
              <a:srgbClr val="F5A623"/>
            </a:solidFill>
            <a:prstDash val="solid"/>
          </a:ln>
        </p:spPr>
      </p:sp>
      <p:sp>
        <p:nvSpPr>
          <p:cNvPr id="7" name="Text 5"/>
          <p:cNvSpPr/>
          <p:nvPr/>
        </p:nvSpPr>
        <p:spPr>
          <a:xfrm>
            <a:off x="548640" y="1207008"/>
            <a:ext cx="402336" cy="402336"/>
          </a:xfrm>
          <a:prstGeom prst="rect">
            <a:avLst/>
          </a:prstGeom>
          <a:noFill/>
          <a:ln/>
        </p:spPr>
        <p:txBody>
          <a:bodyPr wrap="square" rtlCol="0" anchor="ctr"/>
          <a:lstStyle/>
          <a:p>
            <a:pPr algn="ctr" indent="0" marL="0">
              <a:buNone/>
            </a:pPr>
            <a:r>
              <a:rPr lang="en-US" sz="1600" b="1" dirty="0">
                <a:solidFill>
                  <a:srgbClr val="1B3A2D"/>
                </a:solidFill>
              </a:rPr>
              <a:t>✓</a:t>
            </a:r>
            <a:endParaRPr lang="en-US" sz="1600" dirty="0"/>
          </a:p>
        </p:txBody>
      </p:sp>
      <p:sp>
        <p:nvSpPr>
          <p:cNvPr id="8" name="Text 6"/>
          <p:cNvSpPr/>
          <p:nvPr/>
        </p:nvSpPr>
        <p:spPr>
          <a:xfrm>
            <a:off x="1051560" y="1170432"/>
            <a:ext cx="749808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Successfully implemented and evaluated Custom CNN (95.44% accuracy)</a:t>
            </a:r>
            <a:endParaRPr lang="en-US" sz="1300" dirty="0"/>
          </a:p>
        </p:txBody>
      </p:sp>
      <p:sp>
        <p:nvSpPr>
          <p:cNvPr id="9" name="Shape 7"/>
          <p:cNvSpPr/>
          <p:nvPr/>
        </p:nvSpPr>
        <p:spPr>
          <a:xfrm>
            <a:off x="457200" y="1892808"/>
            <a:ext cx="8229600" cy="658368"/>
          </a:xfrm>
          <a:prstGeom prst="roundRect">
            <a:avLst>
              <a:gd name="adj" fmla="val 11111"/>
            </a:avLst>
          </a:prstGeom>
          <a:solidFill>
            <a:srgbClr val="2E6B4F">
              <a:alpha val="50000"/>
            </a:srgbClr>
          </a:solidFill>
          <a:ln w="12700">
            <a:solidFill>
              <a:srgbClr val="4CAF7D">
                <a:alpha val="30000"/>
              </a:srgbClr>
            </a:solidFill>
            <a:prstDash val="solid"/>
          </a:ln>
        </p:spPr>
      </p:sp>
      <p:sp>
        <p:nvSpPr>
          <p:cNvPr id="10" name="Shape 8"/>
          <p:cNvSpPr/>
          <p:nvPr/>
        </p:nvSpPr>
        <p:spPr>
          <a:xfrm>
            <a:off x="548640" y="1956816"/>
            <a:ext cx="402336" cy="402336"/>
          </a:xfrm>
          <a:prstGeom prst="ellipse">
            <a:avLst/>
          </a:prstGeom>
          <a:solidFill>
            <a:srgbClr val="F5A623"/>
          </a:solidFill>
          <a:ln w="12700">
            <a:solidFill>
              <a:srgbClr val="F5A623"/>
            </a:solidFill>
            <a:prstDash val="solid"/>
          </a:ln>
        </p:spPr>
      </p:sp>
      <p:sp>
        <p:nvSpPr>
          <p:cNvPr id="11" name="Text 9"/>
          <p:cNvSpPr/>
          <p:nvPr/>
        </p:nvSpPr>
        <p:spPr>
          <a:xfrm>
            <a:off x="548640" y="1956816"/>
            <a:ext cx="402336" cy="402336"/>
          </a:xfrm>
          <a:prstGeom prst="rect">
            <a:avLst/>
          </a:prstGeom>
          <a:noFill/>
          <a:ln/>
        </p:spPr>
        <p:txBody>
          <a:bodyPr wrap="square" rtlCol="0" anchor="ctr"/>
          <a:lstStyle/>
          <a:p>
            <a:pPr algn="ctr" indent="0" marL="0">
              <a:buNone/>
            </a:pPr>
            <a:r>
              <a:rPr lang="en-US" sz="1600" b="1" dirty="0">
                <a:solidFill>
                  <a:srgbClr val="1B3A2D"/>
                </a:solidFill>
              </a:rPr>
              <a:t>✓</a:t>
            </a:r>
            <a:endParaRPr lang="en-US" sz="1600" dirty="0"/>
          </a:p>
        </p:txBody>
      </p:sp>
      <p:sp>
        <p:nvSpPr>
          <p:cNvPr id="12" name="Text 10"/>
          <p:cNvSpPr/>
          <p:nvPr/>
        </p:nvSpPr>
        <p:spPr>
          <a:xfrm>
            <a:off x="1051560" y="1920240"/>
            <a:ext cx="749808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Successfully implemented MobileNetV2 with transfer learning (98.52% accuracy)</a:t>
            </a:r>
            <a:endParaRPr lang="en-US" sz="1300" dirty="0"/>
          </a:p>
        </p:txBody>
      </p:sp>
      <p:sp>
        <p:nvSpPr>
          <p:cNvPr id="13" name="Shape 11"/>
          <p:cNvSpPr/>
          <p:nvPr/>
        </p:nvSpPr>
        <p:spPr>
          <a:xfrm>
            <a:off x="457200" y="2642616"/>
            <a:ext cx="8229600" cy="658368"/>
          </a:xfrm>
          <a:prstGeom prst="roundRect">
            <a:avLst>
              <a:gd name="adj" fmla="val 11111"/>
            </a:avLst>
          </a:prstGeom>
          <a:solidFill>
            <a:srgbClr val="2E6B4F">
              <a:alpha val="50000"/>
            </a:srgbClr>
          </a:solidFill>
          <a:ln w="12700">
            <a:solidFill>
              <a:srgbClr val="4CAF7D">
                <a:alpha val="30000"/>
              </a:srgbClr>
            </a:solidFill>
            <a:prstDash val="solid"/>
          </a:ln>
        </p:spPr>
      </p:sp>
      <p:sp>
        <p:nvSpPr>
          <p:cNvPr id="14" name="Shape 12"/>
          <p:cNvSpPr/>
          <p:nvPr/>
        </p:nvSpPr>
        <p:spPr>
          <a:xfrm>
            <a:off x="548640" y="2706624"/>
            <a:ext cx="402336" cy="402336"/>
          </a:xfrm>
          <a:prstGeom prst="ellipse">
            <a:avLst/>
          </a:prstGeom>
          <a:solidFill>
            <a:srgbClr val="F5A623"/>
          </a:solidFill>
          <a:ln w="12700">
            <a:solidFill>
              <a:srgbClr val="F5A623"/>
            </a:solidFill>
            <a:prstDash val="solid"/>
          </a:ln>
        </p:spPr>
      </p:sp>
      <p:sp>
        <p:nvSpPr>
          <p:cNvPr id="15" name="Text 13"/>
          <p:cNvSpPr/>
          <p:nvPr/>
        </p:nvSpPr>
        <p:spPr>
          <a:xfrm>
            <a:off x="548640" y="2706624"/>
            <a:ext cx="402336" cy="402336"/>
          </a:xfrm>
          <a:prstGeom prst="rect">
            <a:avLst/>
          </a:prstGeom>
          <a:noFill/>
          <a:ln/>
        </p:spPr>
        <p:txBody>
          <a:bodyPr wrap="square" rtlCol="0" anchor="ctr"/>
          <a:lstStyle/>
          <a:p>
            <a:pPr algn="ctr" indent="0" marL="0">
              <a:buNone/>
            </a:pPr>
            <a:r>
              <a:rPr lang="en-US" sz="1600" b="1" dirty="0">
                <a:solidFill>
                  <a:srgbClr val="1B3A2D"/>
                </a:solidFill>
              </a:rPr>
              <a:t>✓</a:t>
            </a:r>
            <a:endParaRPr lang="en-US" sz="1600" dirty="0"/>
          </a:p>
        </p:txBody>
      </p:sp>
      <p:sp>
        <p:nvSpPr>
          <p:cNvPr id="16" name="Text 14"/>
          <p:cNvSpPr/>
          <p:nvPr/>
        </p:nvSpPr>
        <p:spPr>
          <a:xfrm>
            <a:off x="1051560" y="2670048"/>
            <a:ext cx="749808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MobileNetV2 outperforms Custom CNN by +3.08% on all metrics</a:t>
            </a:r>
            <a:endParaRPr lang="en-US" sz="1300" dirty="0"/>
          </a:p>
        </p:txBody>
      </p:sp>
      <p:sp>
        <p:nvSpPr>
          <p:cNvPr id="17" name="Shape 15"/>
          <p:cNvSpPr/>
          <p:nvPr/>
        </p:nvSpPr>
        <p:spPr>
          <a:xfrm>
            <a:off x="457200" y="3392424"/>
            <a:ext cx="8229600" cy="658368"/>
          </a:xfrm>
          <a:prstGeom prst="roundRect">
            <a:avLst>
              <a:gd name="adj" fmla="val 11111"/>
            </a:avLst>
          </a:prstGeom>
          <a:solidFill>
            <a:srgbClr val="2E6B4F">
              <a:alpha val="50000"/>
            </a:srgbClr>
          </a:solidFill>
          <a:ln w="12700">
            <a:solidFill>
              <a:srgbClr val="4CAF7D">
                <a:alpha val="30000"/>
              </a:srgbClr>
            </a:solidFill>
            <a:prstDash val="solid"/>
          </a:ln>
        </p:spPr>
      </p:sp>
      <p:sp>
        <p:nvSpPr>
          <p:cNvPr id="18" name="Shape 16"/>
          <p:cNvSpPr/>
          <p:nvPr/>
        </p:nvSpPr>
        <p:spPr>
          <a:xfrm>
            <a:off x="548640" y="3456432"/>
            <a:ext cx="402336" cy="402336"/>
          </a:xfrm>
          <a:prstGeom prst="ellipse">
            <a:avLst/>
          </a:prstGeom>
          <a:solidFill>
            <a:srgbClr val="F5A623"/>
          </a:solidFill>
          <a:ln w="12700">
            <a:solidFill>
              <a:srgbClr val="F5A623"/>
            </a:solidFill>
            <a:prstDash val="solid"/>
          </a:ln>
        </p:spPr>
      </p:sp>
      <p:sp>
        <p:nvSpPr>
          <p:cNvPr id="19" name="Text 17"/>
          <p:cNvSpPr/>
          <p:nvPr/>
        </p:nvSpPr>
        <p:spPr>
          <a:xfrm>
            <a:off x="548640" y="3456432"/>
            <a:ext cx="402336" cy="402336"/>
          </a:xfrm>
          <a:prstGeom prst="rect">
            <a:avLst/>
          </a:prstGeom>
          <a:noFill/>
          <a:ln/>
        </p:spPr>
        <p:txBody>
          <a:bodyPr wrap="square" rtlCol="0" anchor="ctr"/>
          <a:lstStyle/>
          <a:p>
            <a:pPr algn="ctr" indent="0" marL="0">
              <a:buNone/>
            </a:pPr>
            <a:r>
              <a:rPr lang="en-US" sz="1600" b="1" dirty="0">
                <a:solidFill>
                  <a:srgbClr val="1B3A2D"/>
                </a:solidFill>
              </a:rPr>
              <a:t>✓</a:t>
            </a:r>
            <a:endParaRPr lang="en-US" sz="1600" dirty="0"/>
          </a:p>
        </p:txBody>
      </p:sp>
      <p:sp>
        <p:nvSpPr>
          <p:cNvPr id="20" name="Text 18"/>
          <p:cNvSpPr/>
          <p:nvPr/>
        </p:nvSpPr>
        <p:spPr>
          <a:xfrm>
            <a:off x="1051560" y="3419856"/>
            <a:ext cx="749808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Models evaluated with confusion matrices, ROC curves, and classification reports</a:t>
            </a:r>
            <a:endParaRPr lang="en-US" sz="1300" dirty="0"/>
          </a:p>
        </p:txBody>
      </p:sp>
      <p:sp>
        <p:nvSpPr>
          <p:cNvPr id="21" name="Shape 19"/>
          <p:cNvSpPr/>
          <p:nvPr/>
        </p:nvSpPr>
        <p:spPr>
          <a:xfrm>
            <a:off x="457200" y="4142232"/>
            <a:ext cx="8229600" cy="658368"/>
          </a:xfrm>
          <a:prstGeom prst="roundRect">
            <a:avLst>
              <a:gd name="adj" fmla="val 11111"/>
            </a:avLst>
          </a:prstGeom>
          <a:solidFill>
            <a:srgbClr val="2E6B4F">
              <a:alpha val="50000"/>
            </a:srgbClr>
          </a:solidFill>
          <a:ln w="12700">
            <a:solidFill>
              <a:srgbClr val="4CAF7D">
                <a:alpha val="30000"/>
              </a:srgbClr>
            </a:solidFill>
            <a:prstDash val="solid"/>
          </a:ln>
        </p:spPr>
      </p:sp>
      <p:sp>
        <p:nvSpPr>
          <p:cNvPr id="22" name="Shape 20"/>
          <p:cNvSpPr/>
          <p:nvPr/>
        </p:nvSpPr>
        <p:spPr>
          <a:xfrm>
            <a:off x="548640" y="4206240"/>
            <a:ext cx="402336" cy="402336"/>
          </a:xfrm>
          <a:prstGeom prst="ellipse">
            <a:avLst/>
          </a:prstGeom>
          <a:solidFill>
            <a:srgbClr val="F5A623"/>
          </a:solidFill>
          <a:ln w="12700">
            <a:solidFill>
              <a:srgbClr val="F5A623"/>
            </a:solidFill>
            <a:prstDash val="solid"/>
          </a:ln>
        </p:spPr>
      </p:sp>
      <p:sp>
        <p:nvSpPr>
          <p:cNvPr id="23" name="Text 21"/>
          <p:cNvSpPr/>
          <p:nvPr/>
        </p:nvSpPr>
        <p:spPr>
          <a:xfrm>
            <a:off x="548640" y="4206240"/>
            <a:ext cx="402336" cy="402336"/>
          </a:xfrm>
          <a:prstGeom prst="rect">
            <a:avLst/>
          </a:prstGeom>
          <a:noFill/>
          <a:ln/>
        </p:spPr>
        <p:txBody>
          <a:bodyPr wrap="square" rtlCol="0" anchor="ctr"/>
          <a:lstStyle/>
          <a:p>
            <a:pPr algn="ctr" indent="0" marL="0">
              <a:buNone/>
            </a:pPr>
            <a:r>
              <a:rPr lang="en-US" sz="1600" b="1" dirty="0">
                <a:solidFill>
                  <a:srgbClr val="1B3A2D"/>
                </a:solidFill>
              </a:rPr>
              <a:t>✓</a:t>
            </a:r>
            <a:endParaRPr lang="en-US" sz="1600" dirty="0"/>
          </a:p>
        </p:txBody>
      </p:sp>
      <p:sp>
        <p:nvSpPr>
          <p:cNvPr id="24" name="Text 22"/>
          <p:cNvSpPr/>
          <p:nvPr/>
        </p:nvSpPr>
        <p:spPr>
          <a:xfrm>
            <a:off x="1051560" y="4169664"/>
            <a:ext cx="749808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Deep learning is highly effective for automated fruit quality inspection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6"/>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3A2D"/>
          </a:solidFill>
          <a:ln w="12700">
            <a:solidFill>
              <a:srgbClr val="1B3A2D"/>
            </a:solidFill>
            <a:prstDash val="solid"/>
          </a:ln>
        </p:spPr>
      </p:sp>
      <p:sp>
        <p:nvSpPr>
          <p:cNvPr id="3" name="Text 1"/>
          <p:cNvSpPr/>
          <p:nvPr/>
        </p:nvSpPr>
        <p:spPr>
          <a:xfrm>
            <a:off x="274320" y="73152"/>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Future Work</a:t>
            </a:r>
            <a:endParaRPr lang="en-US" sz="2000" dirty="0"/>
          </a:p>
        </p:txBody>
      </p:sp>
      <p:sp>
        <p:nvSpPr>
          <p:cNvPr id="4" name="Shape 2"/>
          <p:cNvSpPr/>
          <p:nvPr/>
        </p:nvSpPr>
        <p:spPr>
          <a:xfrm>
            <a:off x="320040" y="804672"/>
            <a:ext cx="2743200" cy="1920240"/>
          </a:xfrm>
          <a:prstGeom prst="roundRect">
            <a:avLst>
              <a:gd name="adj" fmla="val 5714"/>
            </a:avLst>
          </a:prstGeom>
          <a:solidFill>
            <a:srgbClr val="FFFFFF"/>
          </a:solidFill>
          <a:ln w="12700">
            <a:solidFill>
              <a:srgbClr val="E8F0EC"/>
            </a:solidFill>
            <a:prstDash val="solid"/>
          </a:ln>
          <a:effectLst>
            <a:outerShdw sx="100000" sy="100000" kx="0" ky="0" algn="bl" rotWithShape="0" blurRad="76200" dist="25400" dir="2700000">
              <a:srgbClr val="000000">
                <a:alpha val="8000"/>
              </a:srgbClr>
            </a:outerShdw>
          </a:effectLst>
        </p:spPr>
      </p:sp>
      <p:sp>
        <p:nvSpPr>
          <p:cNvPr id="5" name="Shape 3"/>
          <p:cNvSpPr/>
          <p:nvPr/>
        </p:nvSpPr>
        <p:spPr>
          <a:xfrm>
            <a:off x="411480" y="896112"/>
            <a:ext cx="502920" cy="502920"/>
          </a:xfrm>
          <a:prstGeom prst="roundRect">
            <a:avLst>
              <a:gd name="adj" fmla="val 14545"/>
            </a:avLst>
          </a:prstGeom>
          <a:solidFill>
            <a:srgbClr val="1B3A2D"/>
          </a:solidFill>
          <a:ln w="12700">
            <a:solidFill>
              <a:srgbClr val="1B3A2D"/>
            </a:solidFill>
            <a:prstDash val="solid"/>
          </a:ln>
        </p:spPr>
      </p:sp>
      <p:sp>
        <p:nvSpPr>
          <p:cNvPr id="6" name="Text 4"/>
          <p:cNvSpPr/>
          <p:nvPr/>
        </p:nvSpPr>
        <p:spPr>
          <a:xfrm>
            <a:off x="411480" y="896112"/>
            <a:ext cx="50292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429768" y="1463040"/>
            <a:ext cx="2542032" cy="411480"/>
          </a:xfrm>
          <a:prstGeom prst="rect">
            <a:avLst/>
          </a:prstGeom>
          <a:noFill/>
          <a:ln/>
        </p:spPr>
        <p:txBody>
          <a:bodyPr wrap="square" rtlCol="0" anchor="ctr"/>
          <a:lstStyle/>
          <a:p>
            <a:pPr indent="0" marL="0">
              <a:buNone/>
            </a:pPr>
            <a:r>
              <a:rPr lang="en-US" sz="1300" b="1" dirty="0">
                <a:solidFill>
                  <a:srgbClr val="1B3A2D"/>
                </a:solidFill>
                <a:latin typeface="Calibri" pitchFamily="34" charset="0"/>
                <a:ea typeface="Calibri" pitchFamily="34" charset="-122"/>
                <a:cs typeface="Calibri" pitchFamily="34" charset="-120"/>
              </a:rPr>
              <a:t>Expand Dataset</a:t>
            </a:r>
            <a:endParaRPr lang="en-US" sz="1300" dirty="0"/>
          </a:p>
        </p:txBody>
      </p:sp>
      <p:sp>
        <p:nvSpPr>
          <p:cNvPr id="8" name="Text 6"/>
          <p:cNvSpPr/>
          <p:nvPr/>
        </p:nvSpPr>
        <p:spPr>
          <a:xfrm>
            <a:off x="429768" y="1883664"/>
            <a:ext cx="2542032" cy="731520"/>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Include more fruit types and collect images under diverse lighting and environmental conditions.</a:t>
            </a:r>
            <a:endParaRPr lang="en-US" sz="1100" dirty="0"/>
          </a:p>
        </p:txBody>
      </p:sp>
      <p:sp>
        <p:nvSpPr>
          <p:cNvPr id="9" name="Shape 7"/>
          <p:cNvSpPr/>
          <p:nvPr/>
        </p:nvSpPr>
        <p:spPr>
          <a:xfrm>
            <a:off x="3246120" y="804672"/>
            <a:ext cx="2743200" cy="1920240"/>
          </a:xfrm>
          <a:prstGeom prst="roundRect">
            <a:avLst>
              <a:gd name="adj" fmla="val 5714"/>
            </a:avLst>
          </a:prstGeom>
          <a:solidFill>
            <a:srgbClr val="FFFFFF"/>
          </a:solidFill>
          <a:ln w="12700">
            <a:solidFill>
              <a:srgbClr val="E8F0EC"/>
            </a:solidFill>
            <a:prstDash val="solid"/>
          </a:ln>
          <a:effectLst>
            <a:outerShdw sx="100000" sy="100000" kx="0" ky="0" algn="bl" rotWithShape="0" blurRad="76200" dist="25400" dir="2700000">
              <a:srgbClr val="000000">
                <a:alpha val="8000"/>
              </a:srgbClr>
            </a:outerShdw>
          </a:effectLst>
        </p:spPr>
      </p:sp>
      <p:sp>
        <p:nvSpPr>
          <p:cNvPr id="10" name="Shape 8"/>
          <p:cNvSpPr/>
          <p:nvPr/>
        </p:nvSpPr>
        <p:spPr>
          <a:xfrm>
            <a:off x="3337560" y="896112"/>
            <a:ext cx="502920" cy="502920"/>
          </a:xfrm>
          <a:prstGeom prst="roundRect">
            <a:avLst>
              <a:gd name="adj" fmla="val 14545"/>
            </a:avLst>
          </a:prstGeom>
          <a:solidFill>
            <a:srgbClr val="1B3A2D"/>
          </a:solidFill>
          <a:ln w="12700">
            <a:solidFill>
              <a:srgbClr val="1B3A2D"/>
            </a:solidFill>
            <a:prstDash val="solid"/>
          </a:ln>
        </p:spPr>
      </p:sp>
      <p:sp>
        <p:nvSpPr>
          <p:cNvPr id="11" name="Text 9"/>
          <p:cNvSpPr/>
          <p:nvPr/>
        </p:nvSpPr>
        <p:spPr>
          <a:xfrm>
            <a:off x="3337560" y="896112"/>
            <a:ext cx="50292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2" name="Text 10"/>
          <p:cNvSpPr/>
          <p:nvPr/>
        </p:nvSpPr>
        <p:spPr>
          <a:xfrm>
            <a:off x="3355848" y="1463040"/>
            <a:ext cx="2542032" cy="411480"/>
          </a:xfrm>
          <a:prstGeom prst="rect">
            <a:avLst/>
          </a:prstGeom>
          <a:noFill/>
          <a:ln/>
        </p:spPr>
        <p:txBody>
          <a:bodyPr wrap="square" rtlCol="0" anchor="ctr"/>
          <a:lstStyle/>
          <a:p>
            <a:pPr indent="0" marL="0">
              <a:buNone/>
            </a:pPr>
            <a:r>
              <a:rPr lang="en-US" sz="1300" b="1" dirty="0">
                <a:solidFill>
                  <a:srgbClr val="1B3A2D"/>
                </a:solidFill>
                <a:latin typeface="Calibri" pitchFamily="34" charset="0"/>
                <a:ea typeface="Calibri" pitchFamily="34" charset="-122"/>
                <a:cs typeface="Calibri" pitchFamily="34" charset="-120"/>
              </a:rPr>
              <a:t>Real-Time Detection</a:t>
            </a:r>
            <a:endParaRPr lang="en-US" sz="1300" dirty="0"/>
          </a:p>
        </p:txBody>
      </p:sp>
      <p:sp>
        <p:nvSpPr>
          <p:cNvPr id="13" name="Text 11"/>
          <p:cNvSpPr/>
          <p:nvPr/>
        </p:nvSpPr>
        <p:spPr>
          <a:xfrm>
            <a:off x="3355848" y="1883664"/>
            <a:ext cx="2542032" cy="731520"/>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Enable live fruit freshness detection using a webcam or conveyor camera.</a:t>
            </a:r>
            <a:endParaRPr lang="en-US" sz="1100" dirty="0"/>
          </a:p>
        </p:txBody>
      </p:sp>
      <p:sp>
        <p:nvSpPr>
          <p:cNvPr id="14" name="Shape 12"/>
          <p:cNvSpPr/>
          <p:nvPr/>
        </p:nvSpPr>
        <p:spPr>
          <a:xfrm>
            <a:off x="6172200" y="804672"/>
            <a:ext cx="2743200" cy="1920240"/>
          </a:xfrm>
          <a:prstGeom prst="roundRect">
            <a:avLst>
              <a:gd name="adj" fmla="val 5714"/>
            </a:avLst>
          </a:prstGeom>
          <a:solidFill>
            <a:srgbClr val="FFFFFF"/>
          </a:solidFill>
          <a:ln w="12700">
            <a:solidFill>
              <a:srgbClr val="E8F0EC"/>
            </a:solidFill>
            <a:prstDash val="solid"/>
          </a:ln>
          <a:effectLst>
            <a:outerShdw sx="100000" sy="100000" kx="0" ky="0" algn="bl" rotWithShape="0" blurRad="76200" dist="25400" dir="2700000">
              <a:srgbClr val="000000">
                <a:alpha val="8000"/>
              </a:srgbClr>
            </a:outerShdw>
          </a:effectLst>
        </p:spPr>
      </p:sp>
      <p:sp>
        <p:nvSpPr>
          <p:cNvPr id="15" name="Shape 13"/>
          <p:cNvSpPr/>
          <p:nvPr/>
        </p:nvSpPr>
        <p:spPr>
          <a:xfrm>
            <a:off x="6263640" y="896112"/>
            <a:ext cx="502920" cy="502920"/>
          </a:xfrm>
          <a:prstGeom prst="roundRect">
            <a:avLst>
              <a:gd name="adj" fmla="val 14545"/>
            </a:avLst>
          </a:prstGeom>
          <a:solidFill>
            <a:srgbClr val="1B3A2D"/>
          </a:solidFill>
          <a:ln w="12700">
            <a:solidFill>
              <a:srgbClr val="1B3A2D"/>
            </a:solidFill>
            <a:prstDash val="solid"/>
          </a:ln>
        </p:spPr>
      </p:sp>
      <p:sp>
        <p:nvSpPr>
          <p:cNvPr id="16" name="Text 14"/>
          <p:cNvSpPr/>
          <p:nvPr/>
        </p:nvSpPr>
        <p:spPr>
          <a:xfrm>
            <a:off x="6263640" y="896112"/>
            <a:ext cx="50292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7" name="Text 15"/>
          <p:cNvSpPr/>
          <p:nvPr/>
        </p:nvSpPr>
        <p:spPr>
          <a:xfrm>
            <a:off x="6281928" y="1463040"/>
            <a:ext cx="2542032" cy="411480"/>
          </a:xfrm>
          <a:prstGeom prst="rect">
            <a:avLst/>
          </a:prstGeom>
          <a:noFill/>
          <a:ln/>
        </p:spPr>
        <p:txBody>
          <a:bodyPr wrap="square" rtlCol="0" anchor="ctr"/>
          <a:lstStyle/>
          <a:p>
            <a:pPr indent="0" marL="0">
              <a:buNone/>
            </a:pPr>
            <a:r>
              <a:rPr lang="en-US" sz="1300" b="1" dirty="0">
                <a:solidFill>
                  <a:srgbClr val="1B3A2D"/>
                </a:solidFill>
                <a:latin typeface="Calibri" pitchFamily="34" charset="0"/>
                <a:ea typeface="Calibri" pitchFamily="34" charset="-122"/>
                <a:cs typeface="Calibri" pitchFamily="34" charset="-120"/>
              </a:rPr>
              <a:t>Mobile Application</a:t>
            </a:r>
            <a:endParaRPr lang="en-US" sz="1300" dirty="0"/>
          </a:p>
        </p:txBody>
      </p:sp>
      <p:sp>
        <p:nvSpPr>
          <p:cNvPr id="18" name="Text 16"/>
          <p:cNvSpPr/>
          <p:nvPr/>
        </p:nvSpPr>
        <p:spPr>
          <a:xfrm>
            <a:off x="6281928" y="1883664"/>
            <a:ext cx="2542032" cy="731520"/>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Build a lightweight iOS/Android app for on-the-go fruit quality checking.</a:t>
            </a:r>
            <a:endParaRPr lang="en-US" sz="1100" dirty="0"/>
          </a:p>
        </p:txBody>
      </p:sp>
      <p:sp>
        <p:nvSpPr>
          <p:cNvPr id="19" name="Shape 17"/>
          <p:cNvSpPr/>
          <p:nvPr/>
        </p:nvSpPr>
        <p:spPr>
          <a:xfrm>
            <a:off x="320040" y="2907792"/>
            <a:ext cx="2743200" cy="1920240"/>
          </a:xfrm>
          <a:prstGeom prst="roundRect">
            <a:avLst>
              <a:gd name="adj" fmla="val 5714"/>
            </a:avLst>
          </a:prstGeom>
          <a:solidFill>
            <a:srgbClr val="FFFFFF"/>
          </a:solidFill>
          <a:ln w="12700">
            <a:solidFill>
              <a:srgbClr val="E8F0EC"/>
            </a:solidFill>
            <a:prstDash val="solid"/>
          </a:ln>
          <a:effectLst>
            <a:outerShdw sx="100000" sy="100000" kx="0" ky="0" algn="bl" rotWithShape="0" blurRad="76200" dist="25400" dir="2700000">
              <a:srgbClr val="000000">
                <a:alpha val="8000"/>
              </a:srgbClr>
            </a:outerShdw>
          </a:effectLst>
        </p:spPr>
      </p:sp>
      <p:sp>
        <p:nvSpPr>
          <p:cNvPr id="20" name="Shape 18"/>
          <p:cNvSpPr/>
          <p:nvPr/>
        </p:nvSpPr>
        <p:spPr>
          <a:xfrm>
            <a:off x="411480" y="2999232"/>
            <a:ext cx="502920" cy="502920"/>
          </a:xfrm>
          <a:prstGeom prst="roundRect">
            <a:avLst>
              <a:gd name="adj" fmla="val 14545"/>
            </a:avLst>
          </a:prstGeom>
          <a:solidFill>
            <a:srgbClr val="1B3A2D"/>
          </a:solidFill>
          <a:ln w="12700">
            <a:solidFill>
              <a:srgbClr val="1B3A2D"/>
            </a:solidFill>
            <a:prstDash val="solid"/>
          </a:ln>
        </p:spPr>
      </p:sp>
      <p:sp>
        <p:nvSpPr>
          <p:cNvPr id="21" name="Text 19"/>
          <p:cNvSpPr/>
          <p:nvPr/>
        </p:nvSpPr>
        <p:spPr>
          <a:xfrm>
            <a:off x="411480" y="2999232"/>
            <a:ext cx="50292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2" name="Text 20"/>
          <p:cNvSpPr/>
          <p:nvPr/>
        </p:nvSpPr>
        <p:spPr>
          <a:xfrm>
            <a:off x="429768" y="3566160"/>
            <a:ext cx="2542032" cy="411480"/>
          </a:xfrm>
          <a:prstGeom prst="rect">
            <a:avLst/>
          </a:prstGeom>
          <a:noFill/>
          <a:ln/>
        </p:spPr>
        <p:txBody>
          <a:bodyPr wrap="square" rtlCol="0" anchor="ctr"/>
          <a:lstStyle/>
          <a:p>
            <a:pPr indent="0" marL="0">
              <a:buNone/>
            </a:pPr>
            <a:r>
              <a:rPr lang="en-US" sz="1300" b="1" dirty="0">
                <a:solidFill>
                  <a:srgbClr val="1B3A2D"/>
                </a:solidFill>
                <a:latin typeface="Calibri" pitchFamily="34" charset="0"/>
                <a:ea typeface="Calibri" pitchFamily="34" charset="-122"/>
                <a:cs typeface="Calibri" pitchFamily="34" charset="-120"/>
              </a:rPr>
              <a:t>Edge Deployment</a:t>
            </a:r>
            <a:endParaRPr lang="en-US" sz="1300" dirty="0"/>
          </a:p>
        </p:txBody>
      </p:sp>
      <p:sp>
        <p:nvSpPr>
          <p:cNvPr id="23" name="Text 21"/>
          <p:cNvSpPr/>
          <p:nvPr/>
        </p:nvSpPr>
        <p:spPr>
          <a:xfrm>
            <a:off x="429768" y="3986784"/>
            <a:ext cx="2542032" cy="731520"/>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Deploy the model on edge devices (Raspberry Pi, Jetson Nano) for in-field use.</a:t>
            </a:r>
            <a:endParaRPr lang="en-US" sz="1100" dirty="0"/>
          </a:p>
        </p:txBody>
      </p:sp>
      <p:sp>
        <p:nvSpPr>
          <p:cNvPr id="24" name="Shape 22"/>
          <p:cNvSpPr/>
          <p:nvPr/>
        </p:nvSpPr>
        <p:spPr>
          <a:xfrm>
            <a:off x="3246120" y="2907792"/>
            <a:ext cx="2743200" cy="1920240"/>
          </a:xfrm>
          <a:prstGeom prst="roundRect">
            <a:avLst>
              <a:gd name="adj" fmla="val 5714"/>
            </a:avLst>
          </a:prstGeom>
          <a:solidFill>
            <a:srgbClr val="FFFFFF"/>
          </a:solidFill>
          <a:ln w="12700">
            <a:solidFill>
              <a:srgbClr val="E8F0EC"/>
            </a:solidFill>
            <a:prstDash val="solid"/>
          </a:ln>
          <a:effectLst>
            <a:outerShdw sx="100000" sy="100000" kx="0" ky="0" algn="bl" rotWithShape="0" blurRad="76200" dist="25400" dir="2700000">
              <a:srgbClr val="000000">
                <a:alpha val="8000"/>
              </a:srgbClr>
            </a:outerShdw>
          </a:effectLst>
        </p:spPr>
      </p:sp>
      <p:sp>
        <p:nvSpPr>
          <p:cNvPr id="25" name="Shape 23"/>
          <p:cNvSpPr/>
          <p:nvPr/>
        </p:nvSpPr>
        <p:spPr>
          <a:xfrm>
            <a:off x="3337560" y="2999232"/>
            <a:ext cx="502920" cy="502920"/>
          </a:xfrm>
          <a:prstGeom prst="roundRect">
            <a:avLst>
              <a:gd name="adj" fmla="val 14545"/>
            </a:avLst>
          </a:prstGeom>
          <a:solidFill>
            <a:srgbClr val="1B3A2D"/>
          </a:solidFill>
          <a:ln w="12700">
            <a:solidFill>
              <a:srgbClr val="1B3A2D"/>
            </a:solidFill>
            <a:prstDash val="solid"/>
          </a:ln>
        </p:spPr>
      </p:sp>
      <p:sp>
        <p:nvSpPr>
          <p:cNvPr id="26" name="Text 24"/>
          <p:cNvSpPr/>
          <p:nvPr/>
        </p:nvSpPr>
        <p:spPr>
          <a:xfrm>
            <a:off x="3337560" y="2999232"/>
            <a:ext cx="50292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27" name="Text 25"/>
          <p:cNvSpPr/>
          <p:nvPr/>
        </p:nvSpPr>
        <p:spPr>
          <a:xfrm>
            <a:off x="3355848" y="3566160"/>
            <a:ext cx="2542032" cy="411480"/>
          </a:xfrm>
          <a:prstGeom prst="rect">
            <a:avLst/>
          </a:prstGeom>
          <a:noFill/>
          <a:ln/>
        </p:spPr>
        <p:txBody>
          <a:bodyPr wrap="square" rtlCol="0" anchor="ctr"/>
          <a:lstStyle/>
          <a:p>
            <a:pPr indent="0" marL="0">
              <a:buNone/>
            </a:pPr>
            <a:r>
              <a:rPr lang="en-US" sz="1300" b="1" dirty="0">
                <a:solidFill>
                  <a:srgbClr val="1B3A2D"/>
                </a:solidFill>
                <a:latin typeface="Calibri" pitchFamily="34" charset="0"/>
                <a:ea typeface="Calibri" pitchFamily="34" charset="-122"/>
                <a:cs typeface="Calibri" pitchFamily="34" charset="-120"/>
              </a:rPr>
              <a:t>Fine-Tuning</a:t>
            </a:r>
            <a:endParaRPr lang="en-US" sz="1300" dirty="0"/>
          </a:p>
        </p:txBody>
      </p:sp>
      <p:sp>
        <p:nvSpPr>
          <p:cNvPr id="28" name="Text 26"/>
          <p:cNvSpPr/>
          <p:nvPr/>
        </p:nvSpPr>
        <p:spPr>
          <a:xfrm>
            <a:off x="3355848" y="3986784"/>
            <a:ext cx="2542032" cy="731520"/>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Unfreeze MobileNetV2 layers for domain-specific fine-tuning to push accuracy further.</a:t>
            </a:r>
            <a:endParaRPr lang="en-US" sz="1100" dirty="0"/>
          </a:p>
        </p:txBody>
      </p:sp>
      <p:sp>
        <p:nvSpPr>
          <p:cNvPr id="29" name="Shape 27"/>
          <p:cNvSpPr/>
          <p:nvPr/>
        </p:nvSpPr>
        <p:spPr>
          <a:xfrm>
            <a:off x="6172200" y="2907792"/>
            <a:ext cx="2743200" cy="1920240"/>
          </a:xfrm>
          <a:prstGeom prst="roundRect">
            <a:avLst>
              <a:gd name="adj" fmla="val 5714"/>
            </a:avLst>
          </a:prstGeom>
          <a:solidFill>
            <a:srgbClr val="FFFFFF"/>
          </a:solidFill>
          <a:ln w="12700">
            <a:solidFill>
              <a:srgbClr val="E8F0EC"/>
            </a:solidFill>
            <a:prstDash val="solid"/>
          </a:ln>
          <a:effectLst>
            <a:outerShdw sx="100000" sy="100000" kx="0" ky="0" algn="bl" rotWithShape="0" blurRad="76200" dist="25400" dir="2700000">
              <a:srgbClr val="000000">
                <a:alpha val="8000"/>
              </a:srgbClr>
            </a:outerShdw>
          </a:effectLst>
        </p:spPr>
      </p:sp>
      <p:sp>
        <p:nvSpPr>
          <p:cNvPr id="30" name="Shape 28"/>
          <p:cNvSpPr/>
          <p:nvPr/>
        </p:nvSpPr>
        <p:spPr>
          <a:xfrm>
            <a:off x="6263640" y="2999232"/>
            <a:ext cx="502920" cy="502920"/>
          </a:xfrm>
          <a:prstGeom prst="roundRect">
            <a:avLst>
              <a:gd name="adj" fmla="val 14545"/>
            </a:avLst>
          </a:prstGeom>
          <a:solidFill>
            <a:srgbClr val="1B3A2D"/>
          </a:solidFill>
          <a:ln w="12700">
            <a:solidFill>
              <a:srgbClr val="1B3A2D"/>
            </a:solidFill>
            <a:prstDash val="solid"/>
          </a:ln>
        </p:spPr>
      </p:sp>
      <p:sp>
        <p:nvSpPr>
          <p:cNvPr id="31" name="Text 29"/>
          <p:cNvSpPr/>
          <p:nvPr/>
        </p:nvSpPr>
        <p:spPr>
          <a:xfrm>
            <a:off x="6263640" y="2999232"/>
            <a:ext cx="50292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06</a:t>
            </a:r>
            <a:endParaRPr lang="en-US" sz="1300" dirty="0"/>
          </a:p>
        </p:txBody>
      </p:sp>
      <p:sp>
        <p:nvSpPr>
          <p:cNvPr id="32" name="Text 30"/>
          <p:cNvSpPr/>
          <p:nvPr/>
        </p:nvSpPr>
        <p:spPr>
          <a:xfrm>
            <a:off x="6281928" y="3566160"/>
            <a:ext cx="2542032" cy="411480"/>
          </a:xfrm>
          <a:prstGeom prst="rect">
            <a:avLst/>
          </a:prstGeom>
          <a:noFill/>
          <a:ln/>
        </p:spPr>
        <p:txBody>
          <a:bodyPr wrap="square" rtlCol="0" anchor="ctr"/>
          <a:lstStyle/>
          <a:p>
            <a:pPr indent="0" marL="0">
              <a:buNone/>
            </a:pPr>
            <a:r>
              <a:rPr lang="en-US" sz="1300" b="1" dirty="0">
                <a:solidFill>
                  <a:srgbClr val="1B3A2D"/>
                </a:solidFill>
                <a:latin typeface="Calibri" pitchFamily="34" charset="0"/>
                <a:ea typeface="Calibri" pitchFamily="34" charset="-122"/>
                <a:cs typeface="Calibri" pitchFamily="34" charset="-120"/>
              </a:rPr>
              <a:t>Multi-Label Detection</a:t>
            </a:r>
            <a:endParaRPr lang="en-US" sz="1300" dirty="0"/>
          </a:p>
        </p:txBody>
      </p:sp>
      <p:sp>
        <p:nvSpPr>
          <p:cNvPr id="33" name="Text 31"/>
          <p:cNvSpPr/>
          <p:nvPr/>
        </p:nvSpPr>
        <p:spPr>
          <a:xfrm>
            <a:off x="6281928" y="3986784"/>
            <a:ext cx="2542032" cy="731520"/>
          </a:xfrm>
          <a:prstGeom prst="rect">
            <a:avLst/>
          </a:prstGeom>
          <a:noFill/>
          <a:ln/>
        </p:spPr>
        <p:txBody>
          <a:bodyPr wrap="square" rtlCol="0" anchor="ctr"/>
          <a:lstStyle/>
          <a:p>
            <a:pPr indent="0" marL="0">
              <a:buNone/>
            </a:pPr>
            <a:r>
              <a:rPr lang="en-US" sz="1100" dirty="0">
                <a:solidFill>
                  <a:srgbClr val="3A5A47"/>
                </a:solidFill>
                <a:latin typeface="Calibri" pitchFamily="34" charset="0"/>
                <a:ea typeface="Calibri" pitchFamily="34" charset="-122"/>
                <a:cs typeface="Calibri" pitchFamily="34" charset="-120"/>
              </a:rPr>
              <a:t>Extend to detect ripeness levels (underripe / ripe / overripe) beyond binary classification.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6858000" y="-1097280"/>
            <a:ext cx="3657600" cy="3657600"/>
          </a:xfrm>
          <a:prstGeom prst="ellipse">
            <a:avLst/>
          </a:prstGeom>
          <a:solidFill>
            <a:srgbClr val="2E6B4F">
              <a:alpha val="40000"/>
            </a:srgbClr>
          </a:solidFill>
          <a:ln w="12700">
            <a:solidFill>
              <a:srgbClr val="2E6B4F">
                <a:alpha val="40000"/>
              </a:srgbClr>
            </a:solidFill>
            <a:prstDash val="solid"/>
          </a:ln>
        </p:spPr>
      </p:sp>
      <p:sp>
        <p:nvSpPr>
          <p:cNvPr id="3" name="Shape 1"/>
          <p:cNvSpPr/>
          <p:nvPr/>
        </p:nvSpPr>
        <p:spPr>
          <a:xfrm>
            <a:off x="7498080" y="-365760"/>
            <a:ext cx="2286000" cy="2286000"/>
          </a:xfrm>
          <a:prstGeom prst="ellipse">
            <a:avLst/>
          </a:prstGeom>
          <a:solidFill>
            <a:srgbClr val="4CAF7D">
              <a:alpha val="30000"/>
            </a:srgbClr>
          </a:solidFill>
          <a:ln w="12700">
            <a:solidFill>
              <a:srgbClr val="4CAF7D">
                <a:alpha val="30000"/>
              </a:srgbClr>
            </a:solidFill>
            <a:prstDash val="solid"/>
          </a:ln>
        </p:spPr>
      </p:sp>
      <p:sp>
        <p:nvSpPr>
          <p:cNvPr id="4" name="Shape 2"/>
          <p:cNvSpPr/>
          <p:nvPr/>
        </p:nvSpPr>
        <p:spPr>
          <a:xfrm>
            <a:off x="3200400" y="457200"/>
            <a:ext cx="2743200" cy="2743200"/>
          </a:xfrm>
          <a:prstGeom prst="ellipse">
            <a:avLst/>
          </a:prstGeom>
          <a:solidFill>
            <a:srgbClr val="4CAF7D">
              <a:alpha val="25000"/>
            </a:srgbClr>
          </a:solidFill>
          <a:ln w="12700">
            <a:solidFill>
              <a:srgbClr val="4CAF7D">
                <a:alpha val="25000"/>
              </a:srgbClr>
            </a:solidFill>
            <a:prstDash val="solid"/>
          </a:ln>
        </p:spPr>
      </p:sp>
      <p:sp>
        <p:nvSpPr>
          <p:cNvPr id="5" name="Text 3"/>
          <p:cNvSpPr/>
          <p:nvPr/>
        </p:nvSpPr>
        <p:spPr>
          <a:xfrm>
            <a:off x="457200" y="914400"/>
            <a:ext cx="8229600" cy="1097280"/>
          </a:xfrm>
          <a:prstGeom prst="rect">
            <a:avLst/>
          </a:prstGeom>
          <a:noFill/>
          <a:ln/>
        </p:spPr>
        <p:txBody>
          <a:bodyPr wrap="square"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Thank You</a:t>
            </a:r>
            <a:endParaRPr lang="en-US" sz="5600" dirty="0"/>
          </a:p>
        </p:txBody>
      </p:sp>
      <p:sp>
        <p:nvSpPr>
          <p:cNvPr id="6" name="Text 4"/>
          <p:cNvSpPr/>
          <p:nvPr/>
        </p:nvSpPr>
        <p:spPr>
          <a:xfrm>
            <a:off x="457200" y="2011680"/>
            <a:ext cx="8229600" cy="502920"/>
          </a:xfrm>
          <a:prstGeom prst="rect">
            <a:avLst/>
          </a:prstGeom>
          <a:noFill/>
          <a:ln/>
        </p:spPr>
        <p:txBody>
          <a:bodyPr wrap="square" rtlCol="0" anchor="ctr"/>
          <a:lstStyle/>
          <a:p>
            <a:pPr algn="ctr" indent="0" marL="0">
              <a:buNone/>
            </a:pPr>
            <a:r>
              <a:rPr lang="en-US" sz="2200" i="1" dirty="0">
                <a:solidFill>
                  <a:srgbClr val="F5A623"/>
                </a:solidFill>
                <a:latin typeface="Calibri" pitchFamily="34" charset="0"/>
                <a:ea typeface="Calibri" pitchFamily="34" charset="-122"/>
                <a:cs typeface="Calibri" pitchFamily="34" charset="-120"/>
              </a:rPr>
              <a:t>Questions &amp; Discussion</a:t>
            </a:r>
            <a:endParaRPr lang="en-US" sz="2200" dirty="0"/>
          </a:p>
        </p:txBody>
      </p:sp>
      <p:sp>
        <p:nvSpPr>
          <p:cNvPr id="7" name="Shape 5"/>
          <p:cNvSpPr/>
          <p:nvPr/>
        </p:nvSpPr>
        <p:spPr>
          <a:xfrm>
            <a:off x="2286000" y="2606040"/>
            <a:ext cx="4572000" cy="36576"/>
          </a:xfrm>
          <a:prstGeom prst="rect">
            <a:avLst/>
          </a:prstGeom>
          <a:solidFill>
            <a:srgbClr val="4CAF7D"/>
          </a:solidFill>
          <a:ln w="12700">
            <a:solidFill>
              <a:srgbClr val="4CAF7D"/>
            </a:solidFill>
            <a:prstDash val="solid"/>
          </a:ln>
        </p:spPr>
      </p:sp>
      <p:sp>
        <p:nvSpPr>
          <p:cNvPr id="8" name="Shape 6"/>
          <p:cNvSpPr/>
          <p:nvPr/>
        </p:nvSpPr>
        <p:spPr>
          <a:xfrm>
            <a:off x="320040" y="2926080"/>
            <a:ext cx="1965960" cy="1554480"/>
          </a:xfrm>
          <a:prstGeom prst="roundRect">
            <a:avLst>
              <a:gd name="adj" fmla="val 5882"/>
            </a:avLst>
          </a:prstGeom>
          <a:solidFill>
            <a:srgbClr val="2E6B4F">
              <a:alpha val="70000"/>
            </a:srgbClr>
          </a:solidFill>
          <a:ln w="12700">
            <a:solidFill>
              <a:srgbClr val="4CAF7D">
                <a:alpha val="40000"/>
              </a:srgbClr>
            </a:solidFill>
            <a:prstDash val="solid"/>
          </a:ln>
        </p:spPr>
      </p:sp>
      <p:sp>
        <p:nvSpPr>
          <p:cNvPr id="9" name="Text 7"/>
          <p:cNvSpPr/>
          <p:nvPr/>
        </p:nvSpPr>
        <p:spPr>
          <a:xfrm>
            <a:off x="320040" y="3017520"/>
            <a:ext cx="1965960" cy="685800"/>
          </a:xfrm>
          <a:prstGeom prst="rect">
            <a:avLst/>
          </a:prstGeom>
          <a:noFill/>
          <a:ln/>
        </p:spPr>
        <p:txBody>
          <a:bodyPr wrap="square" rtlCol="0" anchor="ctr"/>
          <a:lstStyle/>
          <a:p>
            <a:pPr algn="ctr" indent="0" marL="0">
              <a:buNone/>
            </a:pPr>
            <a:r>
              <a:rPr lang="en-US" sz="2000" b="1" dirty="0">
                <a:solidFill>
                  <a:srgbClr val="F5A623"/>
                </a:solidFill>
                <a:latin typeface="Cambria" pitchFamily="34" charset="0"/>
                <a:ea typeface="Cambria" pitchFamily="34" charset="-122"/>
                <a:cs typeface="Cambria" pitchFamily="34" charset="-120"/>
              </a:rPr>
              <a:t>95.44%</a:t>
            </a:r>
            <a:endParaRPr lang="en-US" sz="2000" dirty="0"/>
          </a:p>
        </p:txBody>
      </p:sp>
      <p:sp>
        <p:nvSpPr>
          <p:cNvPr id="10" name="Text 8"/>
          <p:cNvSpPr/>
          <p:nvPr/>
        </p:nvSpPr>
        <p:spPr>
          <a:xfrm>
            <a:off x="320040" y="3703320"/>
            <a:ext cx="1965960" cy="54864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CNN Accuracy</a:t>
            </a:r>
            <a:endParaRPr lang="en-US" sz="1100" dirty="0"/>
          </a:p>
        </p:txBody>
      </p:sp>
      <p:sp>
        <p:nvSpPr>
          <p:cNvPr id="11" name="Shape 9"/>
          <p:cNvSpPr/>
          <p:nvPr/>
        </p:nvSpPr>
        <p:spPr>
          <a:xfrm>
            <a:off x="2468880" y="2926080"/>
            <a:ext cx="1965960" cy="1554480"/>
          </a:xfrm>
          <a:prstGeom prst="roundRect">
            <a:avLst>
              <a:gd name="adj" fmla="val 5882"/>
            </a:avLst>
          </a:prstGeom>
          <a:solidFill>
            <a:srgbClr val="2E6B4F">
              <a:alpha val="70000"/>
            </a:srgbClr>
          </a:solidFill>
          <a:ln w="12700">
            <a:solidFill>
              <a:srgbClr val="4CAF7D">
                <a:alpha val="40000"/>
              </a:srgbClr>
            </a:solidFill>
            <a:prstDash val="solid"/>
          </a:ln>
        </p:spPr>
      </p:sp>
      <p:sp>
        <p:nvSpPr>
          <p:cNvPr id="12" name="Text 10"/>
          <p:cNvSpPr/>
          <p:nvPr/>
        </p:nvSpPr>
        <p:spPr>
          <a:xfrm>
            <a:off x="2468880" y="3017520"/>
            <a:ext cx="1965960" cy="685800"/>
          </a:xfrm>
          <a:prstGeom prst="rect">
            <a:avLst/>
          </a:prstGeom>
          <a:noFill/>
          <a:ln/>
        </p:spPr>
        <p:txBody>
          <a:bodyPr wrap="square" rtlCol="0" anchor="ctr"/>
          <a:lstStyle/>
          <a:p>
            <a:pPr algn="ctr" indent="0" marL="0">
              <a:buNone/>
            </a:pPr>
            <a:r>
              <a:rPr lang="en-US" sz="2000" b="1" dirty="0">
                <a:solidFill>
                  <a:srgbClr val="F5A623"/>
                </a:solidFill>
                <a:latin typeface="Cambria" pitchFamily="34" charset="0"/>
                <a:ea typeface="Cambria" pitchFamily="34" charset="-122"/>
                <a:cs typeface="Cambria" pitchFamily="34" charset="-120"/>
              </a:rPr>
              <a:t>98.52%</a:t>
            </a:r>
            <a:endParaRPr lang="en-US" sz="2000" dirty="0"/>
          </a:p>
        </p:txBody>
      </p:sp>
      <p:sp>
        <p:nvSpPr>
          <p:cNvPr id="13" name="Text 11"/>
          <p:cNvSpPr/>
          <p:nvPr/>
        </p:nvSpPr>
        <p:spPr>
          <a:xfrm>
            <a:off x="2468880" y="3703320"/>
            <a:ext cx="1965960" cy="54864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MobileNet Accuracy</a:t>
            </a:r>
            <a:endParaRPr lang="en-US" sz="1100" dirty="0"/>
          </a:p>
        </p:txBody>
      </p:sp>
      <p:sp>
        <p:nvSpPr>
          <p:cNvPr id="14" name="Shape 12"/>
          <p:cNvSpPr/>
          <p:nvPr/>
        </p:nvSpPr>
        <p:spPr>
          <a:xfrm>
            <a:off x="4617720" y="2926080"/>
            <a:ext cx="1965960" cy="1554480"/>
          </a:xfrm>
          <a:prstGeom prst="roundRect">
            <a:avLst>
              <a:gd name="adj" fmla="val 5882"/>
            </a:avLst>
          </a:prstGeom>
          <a:solidFill>
            <a:srgbClr val="2E6B4F">
              <a:alpha val="70000"/>
            </a:srgbClr>
          </a:solidFill>
          <a:ln w="12700">
            <a:solidFill>
              <a:srgbClr val="4CAF7D">
                <a:alpha val="40000"/>
              </a:srgbClr>
            </a:solidFill>
            <a:prstDash val="solid"/>
          </a:ln>
        </p:spPr>
      </p:sp>
      <p:sp>
        <p:nvSpPr>
          <p:cNvPr id="15" name="Text 13"/>
          <p:cNvSpPr/>
          <p:nvPr/>
        </p:nvSpPr>
        <p:spPr>
          <a:xfrm>
            <a:off x="4617720" y="3017520"/>
            <a:ext cx="1965960" cy="685800"/>
          </a:xfrm>
          <a:prstGeom prst="rect">
            <a:avLst/>
          </a:prstGeom>
          <a:noFill/>
          <a:ln/>
        </p:spPr>
        <p:txBody>
          <a:bodyPr wrap="square" rtlCol="0" anchor="ctr"/>
          <a:lstStyle/>
          <a:p>
            <a:pPr algn="ctr" indent="0" marL="0">
              <a:buNone/>
            </a:pPr>
            <a:r>
              <a:rPr lang="en-US" sz="2000" b="1" dirty="0">
                <a:solidFill>
                  <a:srgbClr val="F5A623"/>
                </a:solidFill>
                <a:latin typeface="Cambria" pitchFamily="34" charset="0"/>
                <a:ea typeface="Cambria" pitchFamily="34" charset="-122"/>
                <a:cs typeface="Cambria" pitchFamily="34" charset="-120"/>
              </a:rPr>
              <a:t>2,698</a:t>
            </a:r>
            <a:endParaRPr lang="en-US" sz="2000" dirty="0"/>
          </a:p>
        </p:txBody>
      </p:sp>
      <p:sp>
        <p:nvSpPr>
          <p:cNvPr id="16" name="Text 14"/>
          <p:cNvSpPr/>
          <p:nvPr/>
        </p:nvSpPr>
        <p:spPr>
          <a:xfrm>
            <a:off x="4617720" y="3703320"/>
            <a:ext cx="1965960" cy="54864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Test Images</a:t>
            </a:r>
            <a:endParaRPr lang="en-US" sz="1100" dirty="0"/>
          </a:p>
        </p:txBody>
      </p:sp>
      <p:sp>
        <p:nvSpPr>
          <p:cNvPr id="17" name="Shape 15"/>
          <p:cNvSpPr/>
          <p:nvPr/>
        </p:nvSpPr>
        <p:spPr>
          <a:xfrm>
            <a:off x="6766560" y="2926080"/>
            <a:ext cx="1965960" cy="1554480"/>
          </a:xfrm>
          <a:prstGeom prst="roundRect">
            <a:avLst>
              <a:gd name="adj" fmla="val 5882"/>
            </a:avLst>
          </a:prstGeom>
          <a:solidFill>
            <a:srgbClr val="2E6B4F">
              <a:alpha val="70000"/>
            </a:srgbClr>
          </a:solidFill>
          <a:ln w="12700">
            <a:solidFill>
              <a:srgbClr val="4CAF7D">
                <a:alpha val="40000"/>
              </a:srgbClr>
            </a:solidFill>
            <a:prstDash val="solid"/>
          </a:ln>
        </p:spPr>
      </p:sp>
      <p:sp>
        <p:nvSpPr>
          <p:cNvPr id="18" name="Text 16"/>
          <p:cNvSpPr/>
          <p:nvPr/>
        </p:nvSpPr>
        <p:spPr>
          <a:xfrm>
            <a:off x="6766560" y="3017520"/>
            <a:ext cx="1965960" cy="685800"/>
          </a:xfrm>
          <a:prstGeom prst="rect">
            <a:avLst/>
          </a:prstGeom>
          <a:noFill/>
          <a:ln/>
        </p:spPr>
        <p:txBody>
          <a:bodyPr wrap="square" rtlCol="0" anchor="ctr"/>
          <a:lstStyle/>
          <a:p>
            <a:pPr algn="ctr" indent="0" marL="0">
              <a:buNone/>
            </a:pPr>
            <a:r>
              <a:rPr lang="en-US" sz="2000" b="1" dirty="0">
                <a:solidFill>
                  <a:srgbClr val="F5A623"/>
                </a:solidFill>
                <a:latin typeface="Cambria" pitchFamily="34" charset="0"/>
                <a:ea typeface="Cambria" pitchFamily="34" charset="-122"/>
                <a:cs typeface="Cambria" pitchFamily="34" charset="-120"/>
              </a:rPr>
              <a:t>MobileNetV2</a:t>
            </a:r>
            <a:endParaRPr lang="en-US" sz="2000" dirty="0"/>
          </a:p>
        </p:txBody>
      </p:sp>
      <p:sp>
        <p:nvSpPr>
          <p:cNvPr id="19" name="Text 17"/>
          <p:cNvSpPr/>
          <p:nvPr/>
        </p:nvSpPr>
        <p:spPr>
          <a:xfrm>
            <a:off x="6766560" y="3703320"/>
            <a:ext cx="1965960" cy="54864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Winner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 and Rotten Fruit Classification Using Deep Learning</dc:title>
  <dc:subject>PptxGenJS Presentation</dc:subject>
  <dc:creator>PptxGenJS</dc:creator>
  <cp:lastModifiedBy>PptxGenJS</cp:lastModifiedBy>
  <cp:revision>1</cp:revision>
  <dcterms:created xsi:type="dcterms:W3CDTF">2026-06-28T16:26:46Z</dcterms:created>
  <dcterms:modified xsi:type="dcterms:W3CDTF">2026-06-28T16:26:46Z</dcterms:modified>
</cp:coreProperties>
</file>